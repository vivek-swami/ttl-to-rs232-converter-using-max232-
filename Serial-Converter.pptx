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69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.png"/><Relationship Id="rId7" Type="http://schemas.openxmlformats.org/officeDocument/2006/relationships/image" Target="../media/image31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3" Type="http://schemas.openxmlformats.org/officeDocument/2006/relationships/image" Target="../media/image1.pn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Relationship Id="rId14" Type="http://schemas.openxmlformats.org/officeDocument/2006/relationships/image" Target="../media/image4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94792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748680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8230121" y="4547629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8" name="Shape 5"/>
          <p:cNvSpPr/>
          <p:nvPr/>
        </p:nvSpPr>
        <p:spPr>
          <a:xfrm>
            <a:off x="8385795" y="4449663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9" name="Shape 6"/>
          <p:cNvSpPr/>
          <p:nvPr/>
        </p:nvSpPr>
        <p:spPr>
          <a:xfrm>
            <a:off x="8230121" y="591108"/>
            <a:ext cx="319088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385795" y="489049"/>
            <a:ext cx="9525" cy="204787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158542" y="306214"/>
            <a:ext cx="733425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028145" y="261937"/>
            <a:ext cx="1471173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kern="0" spc="180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SGGS-IET / NANDED</a:t>
            </a:r>
            <a:endParaRPr lang="en-US" sz="540" dirty="0"/>
          </a:p>
        </p:txBody>
      </p:sp>
      <p:sp>
        <p:nvSpPr>
          <p:cNvPr id="13" name="Shape 10"/>
          <p:cNvSpPr/>
          <p:nvPr/>
        </p:nvSpPr>
        <p:spPr>
          <a:xfrm>
            <a:off x="5252033" y="306214"/>
            <a:ext cx="733425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281187" y="925971"/>
            <a:ext cx="1995487" cy="142875"/>
          </a:xfrm>
          <a:prstGeom prst="rect">
            <a:avLst/>
          </a:prstGeom>
          <a:ln w="4763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58057" y="950714"/>
            <a:ext cx="24514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endParaRPr lang="en-US" sz="540" dirty="0"/>
          </a:p>
        </p:txBody>
      </p:sp>
      <p:sp>
        <p:nvSpPr>
          <p:cNvPr id="16" name="Text 13"/>
          <p:cNvSpPr/>
          <p:nvPr/>
        </p:nvSpPr>
        <p:spPr>
          <a:xfrm>
            <a:off x="1280145" y="1080418"/>
            <a:ext cx="2771916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5180" b="1" kern="0" spc="-2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</a:t>
            </a:r>
            <a:endParaRPr lang="en-US" sz="5180" dirty="0"/>
          </a:p>
        </p:txBody>
      </p:sp>
      <p:sp>
        <p:nvSpPr>
          <p:cNvPr id="17" name="Text 14"/>
          <p:cNvSpPr/>
          <p:nvPr/>
        </p:nvSpPr>
        <p:spPr>
          <a:xfrm>
            <a:off x="1280145" y="1678037"/>
            <a:ext cx="3085639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900" kern="0" spc="-216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SERIAL</a:t>
            </a:r>
            <a:endParaRPr lang="en-US" sz="4900" dirty="0"/>
          </a:p>
        </p:txBody>
      </p:sp>
      <p:sp>
        <p:nvSpPr>
          <p:cNvPr id="18" name="Text 15"/>
          <p:cNvSpPr/>
          <p:nvPr/>
        </p:nvSpPr>
        <p:spPr>
          <a:xfrm>
            <a:off x="1280145" y="2199456"/>
            <a:ext cx="4491343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15"/>
              </a:spcAft>
              <a:buNone/>
            </a:pPr>
            <a:r>
              <a:rPr lang="en-US" sz="5180" b="1" kern="0" spc="-216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CONVERTER</a:t>
            </a:r>
            <a:endParaRPr lang="en-US" sz="5180" dirty="0"/>
          </a:p>
        </p:txBody>
      </p:sp>
      <p:sp>
        <p:nvSpPr>
          <p:cNvPr id="19" name="Shape 16"/>
          <p:cNvSpPr/>
          <p:nvPr/>
        </p:nvSpPr>
        <p:spPr>
          <a:xfrm>
            <a:off x="1279178" y="3125725"/>
            <a:ext cx="276225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0" name="Text 17"/>
          <p:cNvSpPr/>
          <p:nvPr/>
        </p:nvSpPr>
        <p:spPr>
          <a:xfrm>
            <a:off x="1664122" y="3065636"/>
            <a:ext cx="377489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kern="0" spc="36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to TTL Level Translation using MAX232 IC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1279178" y="3406899"/>
            <a:ext cx="5305425" cy="376238"/>
          </a:xfrm>
          <a:prstGeom prst="rect">
            <a:avLst/>
          </a:prstGeom>
          <a:ln/>
        </p:spPr>
      </p:sp>
      <p:sp>
        <p:nvSpPr>
          <p:cNvPr id="22" name="Shape 19"/>
          <p:cNvSpPr/>
          <p:nvPr/>
        </p:nvSpPr>
        <p:spPr>
          <a:xfrm>
            <a:off x="1279475" y="3513088"/>
            <a:ext cx="1790700" cy="271463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1280145" y="3518148"/>
            <a:ext cx="89828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SUBMITTED BY</a:t>
            </a:r>
            <a:endParaRPr lang="en-US" sz="470" dirty="0"/>
          </a:p>
        </p:txBody>
      </p:sp>
      <p:sp>
        <p:nvSpPr>
          <p:cNvPr id="24" name="Text 21"/>
          <p:cNvSpPr/>
          <p:nvPr/>
        </p:nvSpPr>
        <p:spPr>
          <a:xfrm>
            <a:off x="1280145" y="3642866"/>
            <a:ext cx="20205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Vivekanand Shivshankar Swami</a:t>
            </a:r>
            <a:endParaRPr lang="en-US" sz="790" dirty="0"/>
          </a:p>
        </p:txBody>
      </p:sp>
      <p:sp>
        <p:nvSpPr>
          <p:cNvPr id="25" name="Shape 22"/>
          <p:cNvSpPr/>
          <p:nvPr/>
        </p:nvSpPr>
        <p:spPr>
          <a:xfrm>
            <a:off x="3069654" y="3513088"/>
            <a:ext cx="2143125" cy="271463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3343796" y="3518148"/>
            <a:ext cx="758116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DEPARTMENT</a:t>
            </a:r>
            <a:endParaRPr lang="en-US" sz="470" dirty="0"/>
          </a:p>
        </p:txBody>
      </p:sp>
      <p:sp>
        <p:nvSpPr>
          <p:cNvPr id="27" name="Text 24"/>
          <p:cNvSpPr/>
          <p:nvPr/>
        </p:nvSpPr>
        <p:spPr>
          <a:xfrm>
            <a:off x="3343796" y="3638104"/>
            <a:ext cx="212425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B8CC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Electronics &amp; Telecomm. Engg.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5487219" y="3518148"/>
            <a:ext cx="1108598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43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SEMESTER / YEAR</a:t>
            </a:r>
            <a:endParaRPr lang="en-US" sz="470" dirty="0"/>
          </a:p>
        </p:txBody>
      </p:sp>
      <p:sp>
        <p:nvSpPr>
          <p:cNvPr id="29" name="Text 26"/>
          <p:cNvSpPr/>
          <p:nvPr/>
        </p:nvSpPr>
        <p:spPr>
          <a:xfrm>
            <a:off x="5487219" y="3638104"/>
            <a:ext cx="126889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B8CC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7th Sem · 2026-27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6623782" y="4588818"/>
            <a:ext cx="2109788" cy="323850"/>
          </a:xfrm>
          <a:prstGeom prst="rect">
            <a:avLst/>
          </a:prstGeom>
          <a:ln w="4763">
            <a:solidFill>
              <a:srgbClr val="7DD3FC">
                <a:alpha val="6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629660" y="4593580"/>
            <a:ext cx="676275" cy="314325"/>
          </a:xfrm>
          <a:prstGeom prst="rect">
            <a:avLst/>
          </a:prstGeom>
          <a:ln/>
        </p:spPr>
      </p:sp>
      <p:sp>
        <p:nvSpPr>
          <p:cNvPr id="32" name="Text 29"/>
          <p:cNvSpPr/>
          <p:nvPr/>
        </p:nvSpPr>
        <p:spPr>
          <a:xfrm>
            <a:off x="6739235" y="4629745"/>
            <a:ext cx="51356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DRAWN BY</a:t>
            </a:r>
            <a:endParaRPr lang="en-US" sz="430" dirty="0"/>
          </a:p>
        </p:txBody>
      </p:sp>
      <p:sp>
        <p:nvSpPr>
          <p:cNvPr id="33" name="Text 30"/>
          <p:cNvSpPr/>
          <p:nvPr/>
        </p:nvSpPr>
        <p:spPr>
          <a:xfrm>
            <a:off x="6739235" y="4778350"/>
            <a:ext cx="6452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V. S. Swami</a:t>
            </a:r>
            <a:endParaRPr lang="en-US" sz="540" dirty="0"/>
          </a:p>
        </p:txBody>
      </p:sp>
      <p:sp>
        <p:nvSpPr>
          <p:cNvPr id="34" name="Shape 31"/>
          <p:cNvSpPr/>
          <p:nvPr/>
        </p:nvSpPr>
        <p:spPr>
          <a:xfrm>
            <a:off x="7304894" y="4593580"/>
            <a:ext cx="514350" cy="314325"/>
          </a:xfrm>
          <a:prstGeom prst="rect">
            <a:avLst/>
          </a:prstGeom>
          <a:ln/>
        </p:spPr>
      </p:sp>
      <p:sp>
        <p:nvSpPr>
          <p:cNvPr id="35" name="Text 32"/>
          <p:cNvSpPr/>
          <p:nvPr/>
        </p:nvSpPr>
        <p:spPr>
          <a:xfrm>
            <a:off x="7415733" y="4629745"/>
            <a:ext cx="2853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DATE</a:t>
            </a:r>
            <a:endParaRPr lang="en-US" sz="430" dirty="0"/>
          </a:p>
        </p:txBody>
      </p:sp>
      <p:sp>
        <p:nvSpPr>
          <p:cNvPr id="36" name="Text 33"/>
          <p:cNvSpPr/>
          <p:nvPr/>
        </p:nvSpPr>
        <p:spPr>
          <a:xfrm>
            <a:off x="7415733" y="4778350"/>
            <a:ext cx="43143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2026-27</a:t>
            </a:r>
            <a:endParaRPr lang="en-US" sz="540" dirty="0"/>
          </a:p>
        </p:txBody>
      </p:sp>
      <p:sp>
        <p:nvSpPr>
          <p:cNvPr id="37" name="Shape 34"/>
          <p:cNvSpPr/>
          <p:nvPr/>
        </p:nvSpPr>
        <p:spPr>
          <a:xfrm>
            <a:off x="7818425" y="4593580"/>
            <a:ext cx="442913" cy="314325"/>
          </a:xfrm>
          <a:prstGeom prst="rect">
            <a:avLst/>
          </a:prstGeom>
          <a:ln/>
        </p:spPr>
      </p:sp>
      <p:sp>
        <p:nvSpPr>
          <p:cNvPr id="38" name="Text 35"/>
          <p:cNvSpPr/>
          <p:nvPr/>
        </p:nvSpPr>
        <p:spPr>
          <a:xfrm>
            <a:off x="7927777" y="4629745"/>
            <a:ext cx="34243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SCALE</a:t>
            </a:r>
            <a:endParaRPr lang="en-US" sz="430" dirty="0"/>
          </a:p>
        </p:txBody>
      </p:sp>
      <p:sp>
        <p:nvSpPr>
          <p:cNvPr id="39" name="Text 36"/>
          <p:cNvSpPr/>
          <p:nvPr/>
        </p:nvSpPr>
        <p:spPr>
          <a:xfrm>
            <a:off x="7927777" y="4778350"/>
            <a:ext cx="2175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NTS</a:t>
            </a:r>
            <a:endParaRPr lang="en-US" sz="540" dirty="0"/>
          </a:p>
        </p:txBody>
      </p:sp>
      <p:sp>
        <p:nvSpPr>
          <p:cNvPr id="40" name="Text 37"/>
          <p:cNvSpPr/>
          <p:nvPr/>
        </p:nvSpPr>
        <p:spPr>
          <a:xfrm>
            <a:off x="8371359" y="4629745"/>
            <a:ext cx="34243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SHEET</a:t>
            </a:r>
            <a:endParaRPr lang="en-US" sz="430" dirty="0"/>
          </a:p>
        </p:txBody>
      </p:sp>
      <p:sp>
        <p:nvSpPr>
          <p:cNvPr id="41" name="Text 38"/>
          <p:cNvSpPr/>
          <p:nvPr/>
        </p:nvSpPr>
        <p:spPr>
          <a:xfrm>
            <a:off x="8371359" y="4778350"/>
            <a:ext cx="37793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 / 10</a:t>
            </a:r>
            <a:endParaRPr lang="en-US" sz="54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9178" y="3406899"/>
            <a:ext cx="5305425" cy="376238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9475" y="3513088"/>
            <a:ext cx="1790700" cy="271463"/>
          </a:xfrm>
          <a:prstGeom prst="rect">
            <a:avLst/>
          </a:prstGeom>
        </p:spPr>
      </p:pic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9654" y="3513088"/>
            <a:ext cx="2143125" cy="271463"/>
          </a:xfrm>
          <a:prstGeom prst="rect">
            <a:avLst/>
          </a:prstGeom>
        </p:spPr>
      </p:pic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660" y="4593580"/>
            <a:ext cx="676275" cy="314325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660" y="4594659"/>
            <a:ext cx="671513" cy="147637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4894" y="4593580"/>
            <a:ext cx="514350" cy="314325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4894" y="4594659"/>
            <a:ext cx="509587" cy="147637"/>
          </a:xfrm>
          <a:prstGeom prst="rect">
            <a:avLst/>
          </a:prstGeom>
        </p:spPr>
      </p:pic>
      <p:pic>
        <p:nvPicPr>
          <p:cNvPr id="4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18425" y="4593580"/>
            <a:ext cx="442913" cy="314325"/>
          </a:xfrm>
          <a:prstGeom prst="rect">
            <a:avLst/>
          </a:prstGeom>
        </p:spPr>
      </p:pic>
      <p:pic>
        <p:nvPicPr>
          <p:cNvPr id="5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8425" y="4594659"/>
            <a:ext cx="438150" cy="147637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61375" y="4594659"/>
            <a:ext cx="466725" cy="1476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1923" y="591108"/>
            <a:ext cx="276225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638919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8365852" y="591108"/>
            <a:ext cx="276225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8" name="Shape 5"/>
          <p:cNvSpPr/>
          <p:nvPr/>
        </p:nvSpPr>
        <p:spPr>
          <a:xfrm>
            <a:off x="8495556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9" name="Shape 6"/>
          <p:cNvSpPr/>
          <p:nvPr/>
        </p:nvSpPr>
        <p:spPr>
          <a:xfrm>
            <a:off x="501923" y="4547629"/>
            <a:ext cx="276225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8919" y="4449663"/>
            <a:ext cx="9525" cy="204787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365852" y="4547629"/>
            <a:ext cx="276225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495556" y="4449663"/>
            <a:ext cx="9525" cy="204787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244260" y="287610"/>
            <a:ext cx="57305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10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731490" y="657225"/>
            <a:ext cx="1445828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480" b="1" dirty="0">
                <a:solidFill>
                  <a:srgbClr val="1630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</a:t>
            </a:r>
            <a:endParaRPr lang="en-US" sz="6480" dirty="0"/>
          </a:p>
        </p:txBody>
      </p:sp>
      <p:sp>
        <p:nvSpPr>
          <p:cNvPr id="15" name="Text 12"/>
          <p:cNvSpPr/>
          <p:nvPr/>
        </p:nvSpPr>
        <p:spPr>
          <a:xfrm>
            <a:off x="731490" y="1419225"/>
            <a:ext cx="713036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216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ABSTRACT</a:t>
            </a:r>
            <a:endParaRPr lang="en-US" sz="470" dirty="0"/>
          </a:p>
        </p:txBody>
      </p:sp>
      <p:sp>
        <p:nvSpPr>
          <p:cNvPr id="16" name="Shape 13"/>
          <p:cNvSpPr/>
          <p:nvPr/>
        </p:nvSpPr>
        <p:spPr>
          <a:xfrm>
            <a:off x="730374" y="1657871"/>
            <a:ext cx="9525" cy="1285875"/>
          </a:xfrm>
          <a:prstGeom prst="rect">
            <a:avLst/>
          </a:prstGeom>
          <a:solidFill>
            <a:srgbClr val="7DD3FC">
              <a:alpha val="3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31490" y="3086621"/>
            <a:ext cx="120524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TYPE: INTERNSHIP REPORT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731490" y="3201814"/>
            <a:ext cx="1005572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STANDARD: EIA-232-F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731490" y="3317007"/>
            <a:ext cx="70607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IC: MAX232CPE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731490" y="3432200"/>
            <a:ext cx="75598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VCC: 5V (REG.)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2743200" y="729555"/>
            <a:ext cx="6348427" cy="489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module that bridges the voltage gap between </a:t>
            </a:r>
            <a:r>
              <a:rPr lang="en-US" sz="144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5V TTL</a:t>
            </a:r>
            <a:endParaRPr lang="en-US" sz="1440" dirty="0"/>
          </a:p>
          <a:p>
            <a:pPr marL="0" indent="0" algn="l">
              <a:lnSpc>
                <a:spcPts val="2016"/>
              </a:lnSpc>
              <a:buNone/>
            </a:pPr>
            <a:r>
              <a:rPr lang="en-US" sz="144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microcontrollers</a:t>
            </a:r>
            <a:r>
              <a:rPr lang="en-US" sz="14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legacy RS232 serial equipment.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2742233" y="1386074"/>
            <a:ext cx="733425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0" y="1563812"/>
            <a:ext cx="7114595" cy="309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79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MAX232 IC acts as the core transceiver, using an internal dual charge-pump to generate</a:t>
            </a:r>
            <a:endParaRPr lang="en-US" sz="79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79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±10V RS232 rails from a single 5V supply — requiring only four external 1µF capacitors.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2743200" y="2070199"/>
            <a:ext cx="7349862" cy="485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6"/>
              </a:lnSpc>
              <a:buNone/>
            </a:pPr>
            <a:r>
              <a:rPr lang="en-US" sz="79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Upstream power regulation is handled by an LM7805 linear regulator, converting a 12V DC input</a:t>
            </a:r>
            <a:endParaRPr lang="en-US" sz="79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79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 a stable 5V rail. The complete design — schematic, PCB layout, and 3D model — was produced</a:t>
            </a:r>
            <a:endParaRPr lang="en-US" sz="790" dirty="0"/>
          </a:p>
          <a:p>
            <a:pPr marL="0" indent="0" algn="l">
              <a:lnSpc>
                <a:spcPts val="1386"/>
              </a:lnSpc>
              <a:buNone/>
            </a:pPr>
            <a:r>
              <a:rPr lang="en-US" sz="79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 KiCad EDA and verified via PSpice simulation.</a:t>
            </a:r>
            <a:endParaRPr lang="en-US" sz="790" dirty="0"/>
          </a:p>
        </p:txBody>
      </p:sp>
      <p:sp>
        <p:nvSpPr>
          <p:cNvPr id="25" name="Shape 22"/>
          <p:cNvSpPr/>
          <p:nvPr/>
        </p:nvSpPr>
        <p:spPr>
          <a:xfrm>
            <a:off x="2744167" y="2733452"/>
            <a:ext cx="5667375" cy="385763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2743200" y="2856235"/>
            <a:ext cx="40192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80" kern="0" spc="72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NOTE:</a:t>
            </a:r>
            <a:endParaRPr lang="en-US" sz="580" dirty="0"/>
          </a:p>
        </p:txBody>
      </p:sp>
      <p:sp>
        <p:nvSpPr>
          <p:cNvPr id="27" name="Text 24"/>
          <p:cNvSpPr/>
          <p:nvPr/>
        </p:nvSpPr>
        <p:spPr>
          <a:xfrm>
            <a:off x="3291780" y="2850728"/>
            <a:ext cx="6085783" cy="253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68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This report documents a SETU project-based internship completed under the guidance of the</a:t>
            </a:r>
            <a:endParaRPr lang="en-US" sz="68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68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Department of Electronics &amp; Telecommunications Engineering, SGGS-IET Nanded.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ETL-232-02</a:t>
            </a:r>
            <a:endParaRPr lang="en-US" sz="5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4167" y="2733452"/>
            <a:ext cx="5667375" cy="385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321576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8477250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503337" y="4547629"/>
            <a:ext cx="319088" cy="4763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57225" y="4449663"/>
            <a:ext cx="9525" cy="204787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2890" y="287610"/>
            <a:ext cx="17521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10 — SCOPE OF WORK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731490" y="701948"/>
            <a:ext cx="3989077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11" name="Shape 8"/>
          <p:cNvSpPr/>
          <p:nvPr/>
        </p:nvSpPr>
        <p:spPr>
          <a:xfrm>
            <a:off x="3938029" y="899368"/>
            <a:ext cx="3667125" cy="4763"/>
          </a:xfrm>
          <a:prstGeom prst="rect">
            <a:avLst/>
          </a:prstGeom>
          <a:solidFill>
            <a:srgbClr val="7DD3FC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87134" y="944835"/>
            <a:ext cx="87013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08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6 OBJECTIVES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731490" y="1293019"/>
            <a:ext cx="51481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520" dirty="0"/>
          </a:p>
        </p:txBody>
      </p:sp>
      <p:sp>
        <p:nvSpPr>
          <p:cNvPr id="14" name="Shape 11"/>
          <p:cNvSpPr/>
          <p:nvPr/>
        </p:nvSpPr>
        <p:spPr>
          <a:xfrm>
            <a:off x="1175147" y="1603697"/>
            <a:ext cx="1933575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31490" y="1716063"/>
            <a:ext cx="305245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Design a TTL↔RS232 level converter using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MAX232 integrated circuit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731490" y="2105323"/>
            <a:ext cx="57382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520" dirty="0"/>
          </a:p>
        </p:txBody>
      </p:sp>
      <p:sp>
        <p:nvSpPr>
          <p:cNvPr id="17" name="Shape 14"/>
          <p:cNvSpPr/>
          <p:nvPr/>
        </p:nvSpPr>
        <p:spPr>
          <a:xfrm>
            <a:off x="1219274" y="2416001"/>
            <a:ext cx="1890712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31490" y="2528367"/>
            <a:ext cx="3052167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Design a regulated 5V power supply using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LM7805 voltage regulator IC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3383235" y="1293019"/>
            <a:ext cx="57963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520" dirty="0"/>
          </a:p>
        </p:txBody>
      </p:sp>
      <p:sp>
        <p:nvSpPr>
          <p:cNvPr id="20" name="Shape 17"/>
          <p:cNvSpPr/>
          <p:nvPr/>
        </p:nvSpPr>
        <p:spPr>
          <a:xfrm>
            <a:off x="3875633" y="1603697"/>
            <a:ext cx="188595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383235" y="1716063"/>
            <a:ext cx="282754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Verify the power supply circuit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performance through PSpice simulation</a:t>
            </a: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3383235" y="2105323"/>
            <a:ext cx="59133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520" dirty="0"/>
          </a:p>
        </p:txBody>
      </p:sp>
      <p:sp>
        <p:nvSpPr>
          <p:cNvPr id="23" name="Shape 20"/>
          <p:cNvSpPr/>
          <p:nvPr/>
        </p:nvSpPr>
        <p:spPr>
          <a:xfrm>
            <a:off x="3884898" y="2416001"/>
            <a:ext cx="1876425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3383235" y="2528367"/>
            <a:ext cx="31270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Simulate and validate the TTL-to-RS232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converter in PSpice with measured outputs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034980" y="1293019"/>
            <a:ext cx="57634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520" dirty="0"/>
          </a:p>
        </p:txBody>
      </p:sp>
      <p:sp>
        <p:nvSpPr>
          <p:cNvPr id="26" name="Shape 23"/>
          <p:cNvSpPr/>
          <p:nvPr/>
        </p:nvSpPr>
        <p:spPr>
          <a:xfrm>
            <a:off x="6526113" y="1603697"/>
            <a:ext cx="188595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034980" y="1716063"/>
            <a:ext cx="267779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Draw the complete schematic and PCB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layout in KiCad EDA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034980" y="2105323"/>
            <a:ext cx="58379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203F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520" dirty="0"/>
          </a:p>
        </p:txBody>
      </p:sp>
      <p:sp>
        <p:nvSpPr>
          <p:cNvPr id="29" name="Shape 26"/>
          <p:cNvSpPr/>
          <p:nvPr/>
        </p:nvSpPr>
        <p:spPr>
          <a:xfrm>
            <a:off x="6531359" y="2416001"/>
            <a:ext cx="1881187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034980" y="2528367"/>
            <a:ext cx="2602915" cy="431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Produce a compact, reliable module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suitable for serial communication</a:t>
            </a:r>
            <a:endParaRPr lang="en-US" sz="760" dirty="0"/>
          </a:p>
          <a:p>
            <a:pPr marL="0" indent="0" algn="l">
              <a:lnSpc>
                <a:spcPts val="1209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applications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ETL-232-03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321576" y="4573302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8477250" y="4475411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Text 4"/>
          <p:cNvSpPr/>
          <p:nvPr/>
        </p:nvSpPr>
        <p:spPr>
          <a:xfrm>
            <a:off x="502890" y="287610"/>
            <a:ext cx="263638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10 — VOLTAGE LEVEL TRANSLATION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731490" y="697185"/>
            <a:ext cx="36302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16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THEORY OF OPERATION</a:t>
            </a:r>
            <a:endParaRPr lang="en-US" sz="2160" dirty="0"/>
          </a:p>
        </p:txBody>
      </p:sp>
      <p:sp>
        <p:nvSpPr>
          <p:cNvPr id="9" name="Shape 6"/>
          <p:cNvSpPr/>
          <p:nvPr/>
        </p:nvSpPr>
        <p:spPr>
          <a:xfrm>
            <a:off x="1278954" y="1389497"/>
            <a:ext cx="9525" cy="2981325"/>
          </a:xfrm>
          <a:prstGeom prst="rect">
            <a:avLst/>
          </a:prstGeom>
          <a:solidFill>
            <a:srgbClr val="7DD3FC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63342" y="1393329"/>
            <a:ext cx="2710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4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+15V</a:t>
            </a:r>
            <a:endParaRPr lang="en-US" sz="540" dirty="0"/>
          </a:p>
        </p:txBody>
      </p:sp>
      <p:sp>
        <p:nvSpPr>
          <p:cNvPr id="11" name="Shape 8"/>
          <p:cNvSpPr/>
          <p:nvPr/>
        </p:nvSpPr>
        <p:spPr>
          <a:xfrm>
            <a:off x="1307529" y="1437642"/>
            <a:ext cx="22860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371526" y="1543348"/>
            <a:ext cx="914400" cy="719137"/>
          </a:xfrm>
          <a:prstGeom prst="rect">
            <a:avLst/>
          </a:prstGeom>
          <a:solidFill>
            <a:srgbClr val="7DD3FC">
              <a:alpha val="12000"/>
            </a:srgbClr>
          </a:solidFill>
          <a:ln w="4763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11843" y="1759521"/>
            <a:ext cx="8337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+3→+15V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1421807" y="1976214"/>
            <a:ext cx="81383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162"/>
              </a:spcBef>
              <a:buNone/>
            </a:pPr>
            <a:r>
              <a:rPr lang="en-US" sz="470" kern="0" spc="72" dirty="0">
                <a:solidFill>
                  <a:srgbClr val="5FA3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LOGIC 0</a:t>
            </a:r>
            <a:endParaRPr lang="en-US" sz="470" dirty="0"/>
          </a:p>
        </p:txBody>
      </p:sp>
      <p:sp>
        <p:nvSpPr>
          <p:cNvPr id="15" name="Text 12"/>
          <p:cNvSpPr/>
          <p:nvPr/>
        </p:nvSpPr>
        <p:spPr>
          <a:xfrm>
            <a:off x="1016838" y="2267694"/>
            <a:ext cx="2175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4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+3V</a:t>
            </a:r>
            <a:endParaRPr lang="en-US" sz="540" dirty="0"/>
          </a:p>
        </p:txBody>
      </p:sp>
      <p:sp>
        <p:nvSpPr>
          <p:cNvPr id="16" name="Shape 13"/>
          <p:cNvSpPr/>
          <p:nvPr/>
        </p:nvSpPr>
        <p:spPr>
          <a:xfrm>
            <a:off x="1307529" y="2312008"/>
            <a:ext cx="22860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371526" y="2262932"/>
            <a:ext cx="914400" cy="514350"/>
          </a:xfrm>
          <a:prstGeom prst="rect">
            <a:avLst/>
          </a:prstGeom>
          <a:solidFill>
            <a:srgbClr val="FF6464">
              <a:alpha val="6000"/>
            </a:srgbClr>
          </a:solidFill>
          <a:ln w="4763">
            <a:solidFill>
              <a:srgbClr val="FF9696">
                <a:alpha val="30000"/>
              </a:srgbClr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1575524" y="2476872"/>
            <a:ext cx="50640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A3686D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UNDEFINED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1016838" y="2782044"/>
            <a:ext cx="2175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4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-3V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1307529" y="2826358"/>
            <a:ext cx="22860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71526" y="2777728"/>
            <a:ext cx="914400" cy="719137"/>
          </a:xfrm>
          <a:prstGeom prst="rect">
            <a:avLst/>
          </a:prstGeom>
          <a:solidFill>
            <a:srgbClr val="7DD3FC">
              <a:alpha val="8000"/>
            </a:srgbClr>
          </a:solidFill>
          <a:ln w="4763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45363" y="2949327"/>
            <a:ext cx="7667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-3→-15V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1479995" y="3166021"/>
            <a:ext cx="697461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02"/>
              </a:lnSpc>
              <a:buNone/>
            </a:pPr>
            <a:r>
              <a:rPr lang="en-US" sz="470" kern="0" spc="72" dirty="0">
                <a:solidFill>
                  <a:srgbClr val="5EA1C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LOGIC</a:t>
            </a:r>
            <a:endParaRPr lang="en-US" sz="470" dirty="0"/>
          </a:p>
          <a:p>
            <a:pPr marL="0" indent="0" algn="ctr">
              <a:lnSpc>
                <a:spcPts val="702"/>
              </a:lnSpc>
              <a:buNone/>
            </a:pPr>
            <a:r>
              <a:rPr lang="en-US" sz="470" kern="0" spc="72" dirty="0">
                <a:solidFill>
                  <a:srgbClr val="5EA1C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470" dirty="0"/>
          </a:p>
        </p:txBody>
      </p:sp>
      <p:sp>
        <p:nvSpPr>
          <p:cNvPr id="24" name="Text 21"/>
          <p:cNvSpPr/>
          <p:nvPr/>
        </p:nvSpPr>
        <p:spPr>
          <a:xfrm>
            <a:off x="963342" y="3502149"/>
            <a:ext cx="27103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4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-15V</a:t>
            </a:r>
            <a:endParaRPr lang="en-US" sz="540" dirty="0"/>
          </a:p>
        </p:txBody>
      </p:sp>
      <p:sp>
        <p:nvSpPr>
          <p:cNvPr id="25" name="Shape 22"/>
          <p:cNvSpPr/>
          <p:nvPr/>
        </p:nvSpPr>
        <p:spPr>
          <a:xfrm>
            <a:off x="1307529" y="3546463"/>
            <a:ext cx="228600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639759" y="4287664"/>
            <a:ext cx="377934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" kern="0" spc="108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</a:t>
            </a:r>
            <a:endParaRPr lang="en-US" sz="470" dirty="0"/>
          </a:p>
        </p:txBody>
      </p:sp>
      <p:sp>
        <p:nvSpPr>
          <p:cNvPr id="27" name="Shape 24"/>
          <p:cNvSpPr/>
          <p:nvPr/>
        </p:nvSpPr>
        <p:spPr>
          <a:xfrm>
            <a:off x="2927040" y="1541934"/>
            <a:ext cx="638175" cy="361950"/>
          </a:xfrm>
          <a:prstGeom prst="rect">
            <a:avLst/>
          </a:prstGeom>
          <a:solidFill>
            <a:srgbClr val="7DD3FC">
              <a:alpha val="10000"/>
            </a:srgbClr>
          </a:solidFill>
          <a:ln w="4763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37900" y="1615864"/>
            <a:ext cx="2163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5V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046385" y="1762013"/>
            <a:ext cx="39941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0" dirty="0">
                <a:solidFill>
                  <a:srgbClr val="5EA2C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HIGH</a:t>
            </a:r>
            <a:endParaRPr lang="en-US" sz="430" dirty="0"/>
          </a:p>
        </p:txBody>
      </p:sp>
      <p:sp>
        <p:nvSpPr>
          <p:cNvPr id="30" name="Shape 27"/>
          <p:cNvSpPr/>
          <p:nvPr/>
        </p:nvSpPr>
        <p:spPr>
          <a:xfrm>
            <a:off x="2927040" y="3239244"/>
            <a:ext cx="638175" cy="361950"/>
          </a:xfrm>
          <a:prstGeom prst="rect">
            <a:avLst/>
          </a:prstGeom>
          <a:solidFill>
            <a:srgbClr val="7DD3FC">
              <a:alpha val="6000"/>
            </a:srgbClr>
          </a:solidFill>
          <a:ln w="4763">
            <a:solidFill>
              <a:srgbClr val="7DD3FC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34718" y="3313175"/>
            <a:ext cx="2226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0V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067764" y="3459324"/>
            <a:ext cx="35665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30" dirty="0">
                <a:solidFill>
                  <a:srgbClr val="5DA0C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LOW</a:t>
            </a:r>
            <a:endParaRPr lang="en-US" sz="430" dirty="0"/>
          </a:p>
        </p:txBody>
      </p:sp>
      <p:sp>
        <p:nvSpPr>
          <p:cNvPr id="33" name="Text 30"/>
          <p:cNvSpPr/>
          <p:nvPr/>
        </p:nvSpPr>
        <p:spPr>
          <a:xfrm>
            <a:off x="3121261" y="4287664"/>
            <a:ext cx="24965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70" kern="0" spc="108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</a:t>
            </a:r>
            <a:endParaRPr lang="en-US" sz="470" dirty="0"/>
          </a:p>
        </p:txBody>
      </p:sp>
      <p:sp>
        <p:nvSpPr>
          <p:cNvPr id="34" name="Text 31"/>
          <p:cNvSpPr/>
          <p:nvPr/>
        </p:nvSpPr>
        <p:spPr>
          <a:xfrm>
            <a:off x="4023271" y="1304776"/>
            <a:ext cx="5448181" cy="45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uses bipolar voltages — positive voltage for logic 0, negative for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logic 1. TTL uses 0V and 5V. These are incompatible; a direct connection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would damage microcontroller I/O pins.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4023271" y="1937221"/>
            <a:ext cx="5373596" cy="62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MAX232 contains two transmitters (TTL→RS232) and two receivers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(RS232→TTL). An internal charge pump circuit doubles and inverts the 5V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supply, creating the ±10V rails the RS232 transmitters need — with no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external power supply required.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4022378" y="2718606"/>
            <a:ext cx="4391025" cy="633412"/>
          </a:xfrm>
          <a:prstGeom prst="rect">
            <a:avLst/>
          </a:prstGeom>
          <a:solidFill>
            <a:srgbClr val="7DD3FC">
              <a:alpha val="6000"/>
            </a:srgbClr>
          </a:solidFill>
          <a:ln w="4763">
            <a:solidFill>
              <a:srgbClr val="7DD3FC">
                <a:alpha val="2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137720" y="2805187"/>
            <a:ext cx="82825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SIGNAL PATH</a:t>
            </a:r>
            <a:endParaRPr lang="en-US" sz="470" dirty="0"/>
          </a:p>
        </p:txBody>
      </p:sp>
      <p:sp>
        <p:nvSpPr>
          <p:cNvPr id="38" name="Text 35"/>
          <p:cNvSpPr/>
          <p:nvPr/>
        </p:nvSpPr>
        <p:spPr>
          <a:xfrm>
            <a:off x="4137720" y="2960043"/>
            <a:ext cx="212493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TX → T1IN → </a:t>
            </a: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T1OUT → RS232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4137720" y="3124646"/>
            <a:ext cx="212502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→ R1IN → </a:t>
            </a: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R1OUT → TTL RX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3337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657225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Text 4"/>
          <p:cNvSpPr/>
          <p:nvPr/>
        </p:nvSpPr>
        <p:spPr>
          <a:xfrm>
            <a:off x="7337301" y="287610"/>
            <a:ext cx="17521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10 — BLOCK DIAGRAM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731490" y="697185"/>
            <a:ext cx="373039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418"/>
              </a:spcAft>
              <a:buNone/>
            </a:pPr>
            <a:r>
              <a:rPr lang="en-US" sz="216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CIRCUIT ARCHITECTURE</a:t>
            </a:r>
            <a:endParaRPr lang="en-US" sz="2160" dirty="0"/>
          </a:p>
        </p:txBody>
      </p:sp>
      <p:sp>
        <p:nvSpPr>
          <p:cNvPr id="9" name="Shape 6"/>
          <p:cNvSpPr/>
          <p:nvPr/>
        </p:nvSpPr>
        <p:spPr>
          <a:xfrm>
            <a:off x="731044" y="1260723"/>
            <a:ext cx="7681912" cy="971550"/>
          </a:xfrm>
          <a:prstGeom prst="rect">
            <a:avLst/>
          </a:prstGeom>
          <a:solidFill>
            <a:srgbClr val="000000">
              <a:alpha val="20000"/>
            </a:srgbClr>
          </a:solidFill>
          <a:ln w="4763">
            <a:solidFill>
              <a:srgbClr val="7DD3FC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3361" y="1224335"/>
            <a:ext cx="1023937" cy="80962"/>
          </a:xfrm>
          <a:prstGeom prst="rect">
            <a:avLst/>
          </a:prstGeom>
          <a:solidFill>
            <a:srgbClr val="0B1E2D"/>
          </a:solidFill>
          <a:ln/>
        </p:spPr>
      </p:sp>
      <p:sp>
        <p:nvSpPr>
          <p:cNvPr id="11" name="Text 8"/>
          <p:cNvSpPr/>
          <p:nvPr/>
        </p:nvSpPr>
        <p:spPr>
          <a:xfrm>
            <a:off x="919088" y="1228465"/>
            <a:ext cx="1269377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108" dirty="0">
                <a:solidFill>
                  <a:srgbClr val="3966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SYSTEM BLOCK DIAGRAM</a:t>
            </a:r>
            <a:endParaRPr lang="en-US" sz="430" dirty="0"/>
          </a:p>
        </p:txBody>
      </p:sp>
      <p:sp>
        <p:nvSpPr>
          <p:cNvPr id="12" name="Text 9"/>
          <p:cNvSpPr/>
          <p:nvPr/>
        </p:nvSpPr>
        <p:spPr>
          <a:xfrm>
            <a:off x="1098184" y="1551161"/>
            <a:ext cx="366229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324"/>
              </a:spcAft>
              <a:buNone/>
            </a:pPr>
            <a:r>
              <a:rPr lang="en-US" sz="500" kern="0" spc="72" dirty="0">
                <a:solidFill>
                  <a:srgbClr val="497F9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INPUT</a:t>
            </a:r>
            <a:endParaRPr lang="en-US" sz="500" dirty="0"/>
          </a:p>
        </p:txBody>
      </p:sp>
      <p:sp>
        <p:nvSpPr>
          <p:cNvPr id="13" name="Shape 10"/>
          <p:cNvSpPr/>
          <p:nvPr/>
        </p:nvSpPr>
        <p:spPr>
          <a:xfrm>
            <a:off x="1009873" y="1684065"/>
            <a:ext cx="542925" cy="261937"/>
          </a:xfrm>
          <a:prstGeom prst="rect">
            <a:avLst/>
          </a:prstGeom>
          <a:solidFill>
            <a:srgbClr val="7DD3FC">
              <a:alpha val="5000"/>
            </a:srgbClr>
          </a:solidFill>
          <a:ln w="4763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9514" y="1754684"/>
            <a:ext cx="4636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12V DC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902619" y="1700361"/>
            <a:ext cx="18552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2"/>
              </a:spcAft>
              <a:buNone/>
            </a:pPr>
            <a:r>
              <a:rPr lang="en-US" sz="430" dirty="0">
                <a:solidFill>
                  <a:srgbClr val="3763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Vin</a:t>
            </a:r>
            <a:endParaRPr lang="en-US" sz="430" dirty="0"/>
          </a:p>
        </p:txBody>
      </p:sp>
      <p:sp>
        <p:nvSpPr>
          <p:cNvPr id="16" name="Shape 13"/>
          <p:cNvSpPr/>
          <p:nvPr/>
        </p:nvSpPr>
        <p:spPr>
          <a:xfrm>
            <a:off x="1551942" y="1792895"/>
            <a:ext cx="800100" cy="4763"/>
          </a:xfrm>
          <a:prstGeom prst="rect">
            <a:avLst/>
          </a:prstGeom>
          <a:solidFill>
            <a:srgbClr val="7DD3F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944" y="1771427"/>
            <a:ext cx="61912" cy="476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84264" y="1536055"/>
            <a:ext cx="61339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324"/>
              </a:spcAft>
              <a:buNone/>
            </a:pPr>
            <a:r>
              <a:rPr lang="en-US" sz="500" kern="0" spc="72" dirty="0">
                <a:solidFill>
                  <a:srgbClr val="497F9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REGULATOR</a:t>
            </a:r>
            <a:endParaRPr lang="en-US" sz="500" dirty="0"/>
          </a:p>
        </p:txBody>
      </p:sp>
      <p:sp>
        <p:nvSpPr>
          <p:cNvPr id="19" name="Shape 15"/>
          <p:cNvSpPr/>
          <p:nvPr/>
        </p:nvSpPr>
        <p:spPr>
          <a:xfrm>
            <a:off x="2352861" y="1667396"/>
            <a:ext cx="676275" cy="295275"/>
          </a:xfrm>
          <a:prstGeom prst="rect">
            <a:avLst/>
          </a:prstGeom>
          <a:solidFill>
            <a:srgbClr val="7DD3FC">
              <a:alpha val="8000"/>
            </a:srgbClr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12210" y="1749103"/>
            <a:ext cx="5575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LM7805</a:t>
            </a:r>
            <a:endParaRPr lang="en-US" sz="790" dirty="0"/>
          </a:p>
        </p:txBody>
      </p:sp>
      <p:sp>
        <p:nvSpPr>
          <p:cNvPr id="21" name="Text 17"/>
          <p:cNvSpPr/>
          <p:nvPr/>
        </p:nvSpPr>
        <p:spPr>
          <a:xfrm>
            <a:off x="3380631" y="1700361"/>
            <a:ext cx="18552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2"/>
              </a:spcAft>
              <a:buNone/>
            </a:pPr>
            <a:r>
              <a:rPr lang="en-US" sz="430" dirty="0">
                <a:solidFill>
                  <a:srgbClr val="3763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+5V</a:t>
            </a:r>
            <a:endParaRPr lang="en-US" sz="430" dirty="0"/>
          </a:p>
        </p:txBody>
      </p:sp>
      <p:sp>
        <p:nvSpPr>
          <p:cNvPr id="22" name="Shape 18"/>
          <p:cNvSpPr/>
          <p:nvPr/>
        </p:nvSpPr>
        <p:spPr>
          <a:xfrm>
            <a:off x="3029955" y="1792895"/>
            <a:ext cx="800100" cy="4763"/>
          </a:xfrm>
          <a:prstGeom prst="rect">
            <a:avLst/>
          </a:prstGeom>
          <a:solidFill>
            <a:srgbClr val="7DD3FC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956" y="1771427"/>
            <a:ext cx="61912" cy="476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063439" y="1423839"/>
            <a:ext cx="737027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324"/>
              </a:spcAft>
              <a:buNone/>
            </a:pPr>
            <a:r>
              <a:rPr lang="en-US" sz="500" kern="0" spc="72" dirty="0">
                <a:solidFill>
                  <a:srgbClr val="497F9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TRANSCEIVER</a:t>
            </a:r>
            <a:endParaRPr lang="en-US" sz="500" dirty="0"/>
          </a:p>
        </p:txBody>
      </p:sp>
      <p:sp>
        <p:nvSpPr>
          <p:cNvPr id="25" name="Shape 20"/>
          <p:cNvSpPr/>
          <p:nvPr/>
        </p:nvSpPr>
        <p:spPr>
          <a:xfrm>
            <a:off x="3829534" y="1555477"/>
            <a:ext cx="1204913" cy="519112"/>
          </a:xfrm>
          <a:prstGeom prst="rect">
            <a:avLst/>
          </a:prstGeom>
          <a:solidFill>
            <a:srgbClr val="7DD3FC">
              <a:alpha val="12000"/>
            </a:srgbClr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097782" y="1678037"/>
            <a:ext cx="66834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MAX232</a:t>
            </a:r>
            <a:endParaRPr lang="en-US" sz="940" dirty="0"/>
          </a:p>
        </p:txBody>
      </p:sp>
      <p:sp>
        <p:nvSpPr>
          <p:cNvPr id="27" name="Text 22"/>
          <p:cNvSpPr/>
          <p:nvPr/>
        </p:nvSpPr>
        <p:spPr>
          <a:xfrm>
            <a:off x="3870726" y="1877169"/>
            <a:ext cx="112252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Bef>
                <a:spcPts val="203"/>
              </a:spcBef>
              <a:buNone/>
            </a:pPr>
            <a:r>
              <a:rPr lang="en-US" sz="470" dirty="0">
                <a:solidFill>
                  <a:srgbClr val="5EA2C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T1IN T1OUT · R1IN R1OUT</a:t>
            </a:r>
            <a:endParaRPr lang="en-US" sz="470" dirty="0"/>
          </a:p>
        </p:txBody>
      </p:sp>
      <p:sp>
        <p:nvSpPr>
          <p:cNvPr id="28" name="Text 23"/>
          <p:cNvSpPr/>
          <p:nvPr/>
        </p:nvSpPr>
        <p:spPr>
          <a:xfrm>
            <a:off x="5318745" y="1700361"/>
            <a:ext cx="356652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2"/>
              </a:spcAft>
              <a:buNone/>
            </a:pPr>
            <a:r>
              <a:rPr lang="en-US" sz="430" dirty="0">
                <a:solidFill>
                  <a:srgbClr val="3763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TX / RX</a:t>
            </a:r>
            <a:endParaRPr lang="en-US" sz="43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53" y="1722686"/>
            <a:ext cx="61912" cy="476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033925" y="1792895"/>
            <a:ext cx="800100" cy="4763"/>
          </a:xfrm>
          <a:prstGeom prst="rect">
            <a:avLst/>
          </a:prstGeom>
          <a:solidFill>
            <a:srgbClr val="7DD3FC">
              <a:alpha val="80000"/>
            </a:srgbClr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835" y="1722686"/>
            <a:ext cx="61912" cy="476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923333" y="1551161"/>
            <a:ext cx="67521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324"/>
              </a:spcAft>
              <a:buNone/>
            </a:pPr>
            <a:r>
              <a:rPr lang="en-US" sz="500" kern="0" spc="72" dirty="0">
                <a:solidFill>
                  <a:srgbClr val="497F9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PORT</a:t>
            </a:r>
            <a:endParaRPr lang="en-US" sz="500" dirty="0"/>
          </a:p>
        </p:txBody>
      </p:sp>
      <p:sp>
        <p:nvSpPr>
          <p:cNvPr id="33" name="Shape 26"/>
          <p:cNvSpPr/>
          <p:nvPr/>
        </p:nvSpPr>
        <p:spPr>
          <a:xfrm>
            <a:off x="5834695" y="1684065"/>
            <a:ext cx="852488" cy="261937"/>
          </a:xfrm>
          <a:prstGeom prst="rect">
            <a:avLst/>
          </a:prstGeom>
          <a:solidFill>
            <a:srgbClr val="7DD3FC">
              <a:alpha val="5000"/>
            </a:srgbClr>
          </a:solidFill>
          <a:ln w="4763">
            <a:solidFill>
              <a:srgbClr val="7DD3FC">
                <a:alpha val="5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825918" y="1754684"/>
            <a:ext cx="87004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DB9 / Female</a:t>
            </a:r>
            <a:endParaRPr lang="en-US" sz="680" dirty="0"/>
          </a:p>
        </p:txBody>
      </p:sp>
      <p:sp>
        <p:nvSpPr>
          <p:cNvPr id="35" name="Text 28"/>
          <p:cNvSpPr/>
          <p:nvPr/>
        </p:nvSpPr>
        <p:spPr>
          <a:xfrm>
            <a:off x="6956227" y="1700361"/>
            <a:ext cx="39941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22"/>
              </a:spcAft>
              <a:buNone/>
            </a:pPr>
            <a:r>
              <a:rPr lang="en-US" sz="430" dirty="0">
                <a:solidFill>
                  <a:srgbClr val="37637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0–5V</a:t>
            </a:r>
            <a:endParaRPr lang="en-US" sz="43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038" y="1771427"/>
            <a:ext cx="61912" cy="4762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687852" y="1792895"/>
            <a:ext cx="800100" cy="4763"/>
          </a:xfrm>
          <a:prstGeom prst="rect">
            <a:avLst/>
          </a:prstGeom>
          <a:solidFill>
            <a:srgbClr val="7DD3FC">
              <a:alpha val="80000"/>
            </a:srgbClr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854" y="1771427"/>
            <a:ext cx="61912" cy="476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596627" y="1551161"/>
            <a:ext cx="428045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spcAft>
                <a:spcPts val="324"/>
              </a:spcAft>
              <a:buNone/>
            </a:pPr>
            <a:r>
              <a:rPr lang="en-US" sz="500" kern="0" spc="72" dirty="0">
                <a:solidFill>
                  <a:srgbClr val="497F9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DEVICE</a:t>
            </a:r>
            <a:endParaRPr lang="en-US" sz="500" dirty="0"/>
          </a:p>
        </p:txBody>
      </p:sp>
      <p:sp>
        <p:nvSpPr>
          <p:cNvPr id="40" name="Shape 31"/>
          <p:cNvSpPr/>
          <p:nvPr/>
        </p:nvSpPr>
        <p:spPr>
          <a:xfrm>
            <a:off x="7486799" y="1684065"/>
            <a:ext cx="647700" cy="261937"/>
          </a:xfrm>
          <a:prstGeom prst="rect">
            <a:avLst/>
          </a:prstGeom>
          <a:solidFill>
            <a:srgbClr val="7DD3FC">
              <a:alpha val="3000"/>
            </a:srgbClr>
          </a:solidFill>
          <a:ln w="4763">
            <a:solidFill>
              <a:srgbClr val="7DD3FC">
                <a:alpha val="40000"/>
              </a:srgbClr>
            </a:solidFill>
            <a:prstDash val="dash"/>
          </a:ln>
        </p:spPr>
      </p:sp>
      <p:sp>
        <p:nvSpPr>
          <p:cNvPr id="41" name="Text 32"/>
          <p:cNvSpPr/>
          <p:nvPr/>
        </p:nvSpPr>
        <p:spPr>
          <a:xfrm>
            <a:off x="7511110" y="1754684"/>
            <a:ext cx="5990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99ADB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MCU / PC</a:t>
            </a:r>
            <a:endParaRPr lang="en-US" sz="680" dirty="0"/>
          </a:p>
        </p:txBody>
      </p:sp>
      <p:sp>
        <p:nvSpPr>
          <p:cNvPr id="42" name="Shape 33"/>
          <p:cNvSpPr/>
          <p:nvPr/>
        </p:nvSpPr>
        <p:spPr>
          <a:xfrm>
            <a:off x="732458" y="2386124"/>
            <a:ext cx="1781175" cy="461962"/>
          </a:xfrm>
          <a:prstGeom prst="rect">
            <a:avLst/>
          </a:prstGeom>
          <a:ln/>
        </p:spPr>
      </p:sp>
      <p:sp>
        <p:nvSpPr>
          <p:cNvPr id="43" name="Text 34"/>
          <p:cNvSpPr/>
          <p:nvPr/>
        </p:nvSpPr>
        <p:spPr>
          <a:xfrm>
            <a:off x="731490" y="2488109"/>
            <a:ext cx="432881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5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MAX232</a:t>
            </a:r>
            <a:endParaRPr lang="en-US" sz="580" dirty="0"/>
          </a:p>
        </p:txBody>
      </p:sp>
      <p:sp>
        <p:nvSpPr>
          <p:cNvPr id="44" name="Text 35"/>
          <p:cNvSpPr/>
          <p:nvPr/>
        </p:nvSpPr>
        <p:spPr>
          <a:xfrm>
            <a:off x="731490" y="2618705"/>
            <a:ext cx="2056924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Dual RS232 transceiver · DIP-16 ·</a:t>
            </a:r>
            <a:endParaRPr lang="en-US" sz="610" dirty="0"/>
          </a:p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single 5V supply</a:t>
            </a:r>
            <a:endParaRPr lang="en-US" sz="610" dirty="0"/>
          </a:p>
        </p:txBody>
      </p:sp>
      <p:sp>
        <p:nvSpPr>
          <p:cNvPr id="45" name="Shape 36"/>
          <p:cNvSpPr/>
          <p:nvPr/>
        </p:nvSpPr>
        <p:spPr>
          <a:xfrm>
            <a:off x="2698403" y="2386124"/>
            <a:ext cx="1781175" cy="461962"/>
          </a:xfrm>
          <a:prstGeom prst="rect">
            <a:avLst/>
          </a:prstGeom>
          <a:ln/>
        </p:spPr>
      </p:sp>
      <p:sp>
        <p:nvSpPr>
          <p:cNvPr id="46" name="Text 37"/>
          <p:cNvSpPr/>
          <p:nvPr/>
        </p:nvSpPr>
        <p:spPr>
          <a:xfrm>
            <a:off x="2697435" y="2488109"/>
            <a:ext cx="42127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5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LM7805</a:t>
            </a:r>
            <a:endParaRPr lang="en-US" sz="580" dirty="0"/>
          </a:p>
        </p:txBody>
      </p:sp>
      <p:sp>
        <p:nvSpPr>
          <p:cNvPr id="47" name="Text 38"/>
          <p:cNvSpPr/>
          <p:nvPr/>
        </p:nvSpPr>
        <p:spPr>
          <a:xfrm>
            <a:off x="2697435" y="2618705"/>
            <a:ext cx="217813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Linear voltage regulator · TO-220 ·</a:t>
            </a:r>
            <a:endParaRPr lang="en-US" sz="610" dirty="0"/>
          </a:p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12V→5V</a:t>
            </a:r>
            <a:endParaRPr lang="en-US" sz="610" dirty="0"/>
          </a:p>
        </p:txBody>
      </p:sp>
      <p:sp>
        <p:nvSpPr>
          <p:cNvPr id="48" name="Shape 39"/>
          <p:cNvSpPr/>
          <p:nvPr/>
        </p:nvSpPr>
        <p:spPr>
          <a:xfrm>
            <a:off x="4664348" y="2386124"/>
            <a:ext cx="1781175" cy="461962"/>
          </a:xfrm>
          <a:prstGeom prst="rect">
            <a:avLst/>
          </a:prstGeom>
          <a:ln/>
        </p:spPr>
      </p:sp>
      <p:sp>
        <p:nvSpPr>
          <p:cNvPr id="49" name="Text 40"/>
          <p:cNvSpPr/>
          <p:nvPr/>
        </p:nvSpPr>
        <p:spPr>
          <a:xfrm>
            <a:off x="4663380" y="2488109"/>
            <a:ext cx="60391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5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4× 1µF Caps</a:t>
            </a:r>
            <a:endParaRPr lang="en-US" sz="580" dirty="0"/>
          </a:p>
        </p:txBody>
      </p:sp>
      <p:sp>
        <p:nvSpPr>
          <p:cNvPr id="50" name="Text 41"/>
          <p:cNvSpPr/>
          <p:nvPr/>
        </p:nvSpPr>
        <p:spPr>
          <a:xfrm>
            <a:off x="4663380" y="2618705"/>
            <a:ext cx="2238695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Charge pump network · C1+, C1−, C2+,</a:t>
            </a:r>
            <a:endParaRPr lang="en-US" sz="610" dirty="0"/>
          </a:p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C2−</a:t>
            </a:r>
            <a:endParaRPr lang="en-US" sz="610" dirty="0"/>
          </a:p>
        </p:txBody>
      </p:sp>
      <p:sp>
        <p:nvSpPr>
          <p:cNvPr id="51" name="Shape 42"/>
          <p:cNvSpPr/>
          <p:nvPr/>
        </p:nvSpPr>
        <p:spPr>
          <a:xfrm>
            <a:off x="6630293" y="2386124"/>
            <a:ext cx="1781175" cy="461962"/>
          </a:xfrm>
          <a:prstGeom prst="rect">
            <a:avLst/>
          </a:prstGeom>
          <a:ln/>
        </p:spPr>
      </p:sp>
      <p:sp>
        <p:nvSpPr>
          <p:cNvPr id="52" name="Text 43"/>
          <p:cNvSpPr/>
          <p:nvPr/>
        </p:nvSpPr>
        <p:spPr>
          <a:xfrm>
            <a:off x="6629326" y="2488109"/>
            <a:ext cx="672115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58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DB9 + Header</a:t>
            </a:r>
            <a:endParaRPr lang="en-US" sz="580" dirty="0"/>
          </a:p>
        </p:txBody>
      </p:sp>
      <p:sp>
        <p:nvSpPr>
          <p:cNvPr id="53" name="Text 44"/>
          <p:cNvSpPr/>
          <p:nvPr/>
        </p:nvSpPr>
        <p:spPr>
          <a:xfrm>
            <a:off x="6629326" y="2618705"/>
            <a:ext cx="211748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socket · 3-pin TTL connector</a:t>
            </a:r>
            <a:endParaRPr lang="en-US" sz="610" dirty="0"/>
          </a:p>
        </p:txBody>
      </p:sp>
      <p:sp>
        <p:nvSpPr>
          <p:cNvPr id="54" name="Text 45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ETL-232-05</a:t>
            </a:r>
            <a:endParaRPr lang="en-US" sz="5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2458" y="2386124"/>
            <a:ext cx="1781175" cy="461962"/>
          </a:xfrm>
          <a:prstGeom prst="rect">
            <a:avLst/>
          </a:prstGeom>
        </p:spPr>
      </p:pic>
      <p:pic>
        <p:nvPicPr>
          <p:cNvPr id="5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8403" y="2386124"/>
            <a:ext cx="1781175" cy="461962"/>
          </a:xfrm>
          <a:prstGeom prst="rect">
            <a:avLst/>
          </a:prstGeom>
        </p:spPr>
      </p:pic>
      <p:pic>
        <p:nvPicPr>
          <p:cNvPr id="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4348" y="2386124"/>
            <a:ext cx="1781175" cy="461962"/>
          </a:xfrm>
          <a:prstGeom prst="rect">
            <a:avLst/>
          </a:prstGeom>
        </p:spPr>
      </p:pic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30293" y="2386124"/>
            <a:ext cx="1781175" cy="4619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3337" y="4547629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657225" y="4449663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Text 4"/>
          <p:cNvSpPr/>
          <p:nvPr/>
        </p:nvSpPr>
        <p:spPr>
          <a:xfrm>
            <a:off x="7223968" y="287610"/>
            <a:ext cx="189943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 / 10 — KICAD SCHEMATIC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731490" y="641003"/>
            <a:ext cx="288993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SCHEMATIC DESIGN</a:t>
            </a:r>
            <a:endParaRPr lang="en-US" sz="2020" dirty="0"/>
          </a:p>
        </p:txBody>
      </p:sp>
      <p:sp>
        <p:nvSpPr>
          <p:cNvPr id="9" name="Text 6"/>
          <p:cNvSpPr/>
          <p:nvPr/>
        </p:nvSpPr>
        <p:spPr>
          <a:xfrm>
            <a:off x="3093393" y="817215"/>
            <a:ext cx="15068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kern="0" spc="72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KiCad EDA · Verified</a:t>
            </a:r>
            <a:endParaRPr lang="en-US" sz="610" dirty="0"/>
          </a:p>
        </p:txBody>
      </p:sp>
      <p:sp>
        <p:nvSpPr>
          <p:cNvPr id="10" name="Shape 7"/>
          <p:cNvSpPr/>
          <p:nvPr/>
        </p:nvSpPr>
        <p:spPr>
          <a:xfrm>
            <a:off x="731118" y="1104044"/>
            <a:ext cx="5095875" cy="3576637"/>
          </a:xfrm>
          <a:prstGeom prst="rect">
            <a:avLst/>
          </a:prstGeom>
          <a:solidFill>
            <a:srgbClr val="FFFFFF"/>
          </a:solidFill>
          <a:ln w="4763">
            <a:solidFill>
              <a:srgbClr val="7DD3FC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81" y="1108807"/>
            <a:ext cx="5086350" cy="356711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01804" y="1103784"/>
            <a:ext cx="2309813" cy="519112"/>
          </a:xfrm>
          <a:prstGeom prst="rect">
            <a:avLst/>
          </a:prstGeom>
          <a:ln/>
        </p:spPr>
      </p:sp>
      <p:sp>
        <p:nvSpPr>
          <p:cNvPr id="13" name="Text 9"/>
          <p:cNvSpPr/>
          <p:nvPr/>
        </p:nvSpPr>
        <p:spPr>
          <a:xfrm>
            <a:off x="6100911" y="1195462"/>
            <a:ext cx="968425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POWER SECTION</a:t>
            </a:r>
            <a:endParaRPr lang="en-US" sz="470" dirty="0"/>
          </a:p>
        </p:txBody>
      </p:sp>
      <p:sp>
        <p:nvSpPr>
          <p:cNvPr id="14" name="Text 10"/>
          <p:cNvSpPr/>
          <p:nvPr/>
        </p:nvSpPr>
        <p:spPr>
          <a:xfrm>
            <a:off x="6100911" y="1335212"/>
            <a:ext cx="2980000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12V DC input → LM7805 → 5V regulated rail</a:t>
            </a:r>
            <a:endParaRPr lang="en-US" sz="72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powering the MAX232 and TTL side</a:t>
            </a:r>
            <a:endParaRPr lang="en-US" sz="720" dirty="0"/>
          </a:p>
        </p:txBody>
      </p:sp>
      <p:sp>
        <p:nvSpPr>
          <p:cNvPr id="15" name="Shape 11"/>
          <p:cNvSpPr/>
          <p:nvPr/>
        </p:nvSpPr>
        <p:spPr>
          <a:xfrm>
            <a:off x="6101804" y="1750107"/>
            <a:ext cx="2309813" cy="666750"/>
          </a:xfrm>
          <a:prstGeom prst="rect">
            <a:avLst/>
          </a:prstGeom>
          <a:ln/>
        </p:spPr>
      </p:sp>
      <p:sp>
        <p:nvSpPr>
          <p:cNvPr id="16" name="Text 12"/>
          <p:cNvSpPr/>
          <p:nvPr/>
        </p:nvSpPr>
        <p:spPr>
          <a:xfrm>
            <a:off x="6100911" y="1837804"/>
            <a:ext cx="82825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CHARGE PUMP</a:t>
            </a:r>
            <a:endParaRPr lang="en-US" sz="470" dirty="0"/>
          </a:p>
        </p:txBody>
      </p:sp>
      <p:sp>
        <p:nvSpPr>
          <p:cNvPr id="17" name="Text 13"/>
          <p:cNvSpPr/>
          <p:nvPr/>
        </p:nvSpPr>
        <p:spPr>
          <a:xfrm>
            <a:off x="6100911" y="1977554"/>
            <a:ext cx="2908221" cy="420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C1+/C1− (doubler) and C2+/C2− (inverter)</a:t>
            </a:r>
            <a:endParaRPr lang="en-US" sz="72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capacitor network generates ±10V RS232</a:t>
            </a:r>
            <a:endParaRPr lang="en-US" sz="72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rails internally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6101804" y="2544068"/>
            <a:ext cx="2309813" cy="514350"/>
          </a:xfrm>
          <a:prstGeom prst="rect">
            <a:avLst/>
          </a:prstGeom>
          <a:ln/>
        </p:spPr>
      </p:sp>
      <p:sp>
        <p:nvSpPr>
          <p:cNvPr id="19" name="Text 15"/>
          <p:cNvSpPr/>
          <p:nvPr/>
        </p:nvSpPr>
        <p:spPr>
          <a:xfrm>
            <a:off x="6100911" y="2630984"/>
            <a:ext cx="68807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324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INTERFACE</a:t>
            </a:r>
            <a:endParaRPr lang="en-US" sz="470" dirty="0"/>
          </a:p>
        </p:txBody>
      </p:sp>
      <p:sp>
        <p:nvSpPr>
          <p:cNvPr id="20" name="Text 16"/>
          <p:cNvSpPr/>
          <p:nvPr/>
        </p:nvSpPr>
        <p:spPr>
          <a:xfrm>
            <a:off x="6100911" y="2770733"/>
            <a:ext cx="305081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T1OUT and R1IN routed to DB9 pins 2 and 3.</a:t>
            </a:r>
            <a:endParaRPr lang="en-US" sz="72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2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side via 3-pin header (TX, RX, GND)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6101804" y="4328294"/>
            <a:ext cx="2309813" cy="352425"/>
          </a:xfrm>
          <a:prstGeom prst="rect">
            <a:avLst/>
          </a:prstGeom>
          <a:ln w="4763">
            <a:solidFill>
              <a:srgbClr val="7DD3FC">
                <a:alpha val="30000"/>
              </a:srgbClr>
            </a:solidFill>
            <a:prstDash val="dash"/>
          </a:ln>
        </p:spPr>
      </p:sp>
      <p:sp>
        <p:nvSpPr>
          <p:cNvPr id="22" name="Text 18"/>
          <p:cNvSpPr/>
          <p:nvPr/>
        </p:nvSpPr>
        <p:spPr>
          <a:xfrm>
            <a:off x="6197054" y="4399583"/>
            <a:ext cx="2795907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NOTE: All cap values 1µF / 16V. C5/C6 are supply</a:t>
            </a:r>
            <a:endParaRPr lang="en-US" sz="580" dirty="0"/>
          </a:p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decoupling (10µF, 100nF).</a:t>
            </a:r>
            <a:endParaRPr lang="en-US" sz="580" dirty="0"/>
          </a:p>
        </p:txBody>
      </p:sp>
      <p:sp>
        <p:nvSpPr>
          <p:cNvPr id="23" name="Text 19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ETL-232-06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735881" y="4524301"/>
            <a:ext cx="5086350" cy="152400"/>
          </a:xfrm>
          <a:prstGeom prst="rect">
            <a:avLst/>
          </a:prstGeom>
          <a:solidFill>
            <a:srgbClr val="0B1E2D">
              <a:alpha val="9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827633" y="4560689"/>
            <a:ext cx="217417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08" dirty="0">
                <a:solidFill>
                  <a:srgbClr val="5994B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FIG. A — MAX232 SCHEMATIC (KiCad)</a:t>
            </a:r>
            <a:endParaRPr lang="en-US" sz="47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01804" y="1103784"/>
            <a:ext cx="2309813" cy="519112"/>
          </a:xfrm>
          <a:prstGeom prst="rect">
            <a:avLst/>
          </a:prstGeom>
        </p:spPr>
      </p:pic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1804" y="1750107"/>
            <a:ext cx="2309813" cy="666750"/>
          </a:xfrm>
          <a:prstGeom prst="rect">
            <a:avLst/>
          </a:prstGeom>
        </p:spPr>
      </p:pic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1804" y="2544068"/>
            <a:ext cx="2309813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321576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8477250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503337" y="4547629"/>
            <a:ext cx="319088" cy="4763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57225" y="4449663"/>
            <a:ext cx="9525" cy="204787"/>
          </a:xfrm>
          <a:prstGeom prst="rect">
            <a:avLst/>
          </a:prstGeom>
          <a:solidFill>
            <a:srgbClr val="7DD3FC">
              <a:alpha val="4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02890" y="287610"/>
            <a:ext cx="1531054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 / 10 — PCB DESIGN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731490" y="641003"/>
            <a:ext cx="382462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PCB LAYOUT &amp; 3D RENDER</a:t>
            </a:r>
            <a:endParaRPr lang="en-US" sz="2020" dirty="0"/>
          </a:p>
        </p:txBody>
      </p:sp>
      <p:sp>
        <p:nvSpPr>
          <p:cNvPr id="11" name="Shape 8"/>
          <p:cNvSpPr/>
          <p:nvPr/>
        </p:nvSpPr>
        <p:spPr>
          <a:xfrm>
            <a:off x="3812158" y="806797"/>
            <a:ext cx="4600575" cy="4763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32569" y="1129457"/>
            <a:ext cx="4210050" cy="4138612"/>
          </a:xfrm>
          <a:prstGeom prst="rect">
            <a:avLst/>
          </a:prstGeom>
          <a:ln w="4763">
            <a:solidFill>
              <a:srgbClr val="7DD3FC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332" y="1134219"/>
            <a:ext cx="4200525" cy="412908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32" y="1134517"/>
            <a:ext cx="4200525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490" y="5349553"/>
            <a:ext cx="5450309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Ground plane on bottom layer for EMI suppression. All components through-hole for ease of</a:t>
            </a:r>
            <a:endParaRPr lang="en-US" sz="610" dirty="0"/>
          </a:p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hand assembly.</a:t>
            </a:r>
            <a:endParaRPr lang="en-US" sz="610" dirty="0"/>
          </a:p>
        </p:txBody>
      </p:sp>
      <p:sp>
        <p:nvSpPr>
          <p:cNvPr id="16" name="Shape 11"/>
          <p:cNvSpPr/>
          <p:nvPr/>
        </p:nvSpPr>
        <p:spPr>
          <a:xfrm>
            <a:off x="5173154" y="1129457"/>
            <a:ext cx="3238500" cy="4138612"/>
          </a:xfrm>
          <a:prstGeom prst="rect">
            <a:avLst/>
          </a:prstGeom>
          <a:ln w="4763">
            <a:solidFill>
              <a:srgbClr val="7DD3FC">
                <a:alpha val="40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917" y="1134219"/>
            <a:ext cx="3228975" cy="4129088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7917" y="1134517"/>
            <a:ext cx="3228975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72298" y="5349553"/>
            <a:ext cx="4056601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3D view confirms component clearances and DB9 connector mechanical</a:t>
            </a:r>
            <a:endParaRPr lang="en-US" sz="610" dirty="0"/>
          </a:p>
          <a:p>
            <a:pPr marL="0" indent="0" algn="l">
              <a:lnSpc>
                <a:spcPts val="918"/>
              </a:lnSpc>
              <a:buNone/>
            </a:pPr>
            <a:r>
              <a:rPr lang="en-US" sz="610" dirty="0">
                <a:solidFill>
                  <a:srgbClr val="8FA3B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fit.</a:t>
            </a:r>
            <a:endParaRPr lang="en-US" sz="610" dirty="0"/>
          </a:p>
        </p:txBody>
      </p:sp>
      <p:sp>
        <p:nvSpPr>
          <p:cNvPr id="20" name="Text 13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ETL-232-07</a:t>
            </a:r>
            <a:endParaRPr lang="en-US" sz="500" dirty="0"/>
          </a:p>
        </p:txBody>
      </p:sp>
      <p:sp>
        <p:nvSpPr>
          <p:cNvPr id="21" name="Text 14"/>
          <p:cNvSpPr/>
          <p:nvPr/>
        </p:nvSpPr>
        <p:spPr>
          <a:xfrm>
            <a:off x="845939" y="1180430"/>
            <a:ext cx="1388946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FIG. B — PCB LAYOUT</a:t>
            </a:r>
            <a:endParaRPr lang="en-US" sz="470" dirty="0"/>
          </a:p>
        </p:txBody>
      </p:sp>
      <p:sp>
        <p:nvSpPr>
          <p:cNvPr id="22" name="Text 15"/>
          <p:cNvSpPr/>
          <p:nvPr/>
        </p:nvSpPr>
        <p:spPr>
          <a:xfrm>
            <a:off x="4081016" y="1180430"/>
            <a:ext cx="1029853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2-LAYER · FR4 · 1.6mm</a:t>
            </a:r>
            <a:endParaRPr lang="en-US" sz="470" dirty="0"/>
          </a:p>
        </p:txBody>
      </p:sp>
      <p:sp>
        <p:nvSpPr>
          <p:cNvPr id="23" name="Text 16"/>
          <p:cNvSpPr/>
          <p:nvPr/>
        </p:nvSpPr>
        <p:spPr>
          <a:xfrm>
            <a:off x="5286747" y="1180430"/>
            <a:ext cx="131890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FIG. C — 3D RENDER</a:t>
            </a:r>
            <a:endParaRPr lang="en-US" sz="470" dirty="0"/>
          </a:p>
        </p:txBody>
      </p:sp>
      <p:sp>
        <p:nvSpPr>
          <p:cNvPr id="24" name="Text 17"/>
          <p:cNvSpPr/>
          <p:nvPr/>
        </p:nvSpPr>
        <p:spPr>
          <a:xfrm>
            <a:off x="7763545" y="1180430"/>
            <a:ext cx="75202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KiCad 3D VIEWER</a:t>
            </a:r>
            <a:endParaRPr lang="en-US" sz="4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8321576" y="4547629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8477250" y="4449663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Text 4"/>
          <p:cNvSpPr/>
          <p:nvPr/>
        </p:nvSpPr>
        <p:spPr>
          <a:xfrm>
            <a:off x="502890" y="287610"/>
            <a:ext cx="204686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 / 10 — BILL OF MATERIALS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731490" y="641003"/>
            <a:ext cx="282947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2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 OF MATERIALS</a:t>
            </a:r>
            <a:endParaRPr lang="en-US" sz="2020" dirty="0"/>
          </a:p>
        </p:txBody>
      </p:sp>
      <p:sp>
        <p:nvSpPr>
          <p:cNvPr id="9" name="Text 6"/>
          <p:cNvSpPr/>
          <p:nvPr/>
        </p:nvSpPr>
        <p:spPr>
          <a:xfrm>
            <a:off x="3046884" y="826740"/>
            <a:ext cx="112649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kern="0" spc="108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8 ITEMS · REV A</a:t>
            </a:r>
            <a:endParaRPr lang="en-US" sz="540" dirty="0"/>
          </a:p>
        </p:txBody>
      </p:sp>
      <p:sp>
        <p:nvSpPr>
          <p:cNvPr id="10" name="Shape 7"/>
          <p:cNvSpPr/>
          <p:nvPr/>
        </p:nvSpPr>
        <p:spPr>
          <a:xfrm>
            <a:off x="731044" y="1130647"/>
            <a:ext cx="7681912" cy="138113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731490" y="1134591"/>
            <a:ext cx="407633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S.NO.</a:t>
            </a:r>
            <a:endParaRPr lang="en-US" sz="470" dirty="0"/>
          </a:p>
        </p:txBody>
      </p:sp>
      <p:sp>
        <p:nvSpPr>
          <p:cNvPr id="12" name="Text 9"/>
          <p:cNvSpPr/>
          <p:nvPr/>
        </p:nvSpPr>
        <p:spPr>
          <a:xfrm>
            <a:off x="1188690" y="1134591"/>
            <a:ext cx="68807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COMPONENT</a:t>
            </a:r>
            <a:endParaRPr lang="en-US" sz="470" dirty="0"/>
          </a:p>
        </p:txBody>
      </p:sp>
      <p:sp>
        <p:nvSpPr>
          <p:cNvPr id="13" name="Text 10"/>
          <p:cNvSpPr/>
          <p:nvPr/>
        </p:nvSpPr>
        <p:spPr>
          <a:xfrm>
            <a:off x="4181326" y="1134591"/>
            <a:ext cx="89828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PART / VALUE</a:t>
            </a:r>
            <a:endParaRPr lang="en-US" sz="470" dirty="0"/>
          </a:p>
        </p:txBody>
      </p:sp>
      <p:sp>
        <p:nvSpPr>
          <p:cNvPr id="14" name="Text 11"/>
          <p:cNvSpPr/>
          <p:nvPr/>
        </p:nvSpPr>
        <p:spPr>
          <a:xfrm>
            <a:off x="6335985" y="1134591"/>
            <a:ext cx="26745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QTY</a:t>
            </a:r>
            <a:endParaRPr lang="en-US" sz="470" dirty="0"/>
          </a:p>
        </p:txBody>
      </p:sp>
      <p:sp>
        <p:nvSpPr>
          <p:cNvPr id="15" name="Text 12"/>
          <p:cNvSpPr/>
          <p:nvPr/>
        </p:nvSpPr>
        <p:spPr>
          <a:xfrm>
            <a:off x="6976021" y="1134591"/>
            <a:ext cx="54780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PACKAGE</a:t>
            </a:r>
            <a:endParaRPr lang="en-US" sz="470" dirty="0"/>
          </a:p>
        </p:txBody>
      </p:sp>
      <p:sp>
        <p:nvSpPr>
          <p:cNvPr id="16" name="Shape 13"/>
          <p:cNvSpPr/>
          <p:nvPr/>
        </p:nvSpPr>
        <p:spPr>
          <a:xfrm>
            <a:off x="731044" y="1268499"/>
            <a:ext cx="7681912" cy="257175"/>
          </a:xfrm>
          <a:prstGeom prst="rect">
            <a:avLst/>
          </a:prstGeom>
          <a:ln/>
        </p:spPr>
      </p:sp>
      <p:sp>
        <p:nvSpPr>
          <p:cNvPr id="17" name="Text 14"/>
          <p:cNvSpPr/>
          <p:nvPr/>
        </p:nvSpPr>
        <p:spPr>
          <a:xfrm>
            <a:off x="731490" y="1345183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endParaRPr lang="en-US" sz="610" dirty="0"/>
          </a:p>
        </p:txBody>
      </p:sp>
      <p:sp>
        <p:nvSpPr>
          <p:cNvPr id="18" name="Text 15"/>
          <p:cNvSpPr/>
          <p:nvPr/>
        </p:nvSpPr>
        <p:spPr>
          <a:xfrm>
            <a:off x="1188690" y="1330896"/>
            <a:ext cx="123987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RS232 Transceiver IC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181326" y="1330896"/>
            <a:ext cx="69871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MAX232CPE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335985" y="1330896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976021" y="1340421"/>
            <a:ext cx="4419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DIP-16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731044" y="1523516"/>
            <a:ext cx="7681912" cy="257175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731490" y="1600200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610" dirty="0"/>
          </a:p>
        </p:txBody>
      </p:sp>
      <p:sp>
        <p:nvSpPr>
          <p:cNvPr id="24" name="Text 21"/>
          <p:cNvSpPr/>
          <p:nvPr/>
        </p:nvSpPr>
        <p:spPr>
          <a:xfrm>
            <a:off x="1188690" y="1585913"/>
            <a:ext cx="122381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Voltage Regulator IC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181326" y="1585913"/>
            <a:ext cx="62742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LM7805CT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335985" y="1585913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976021" y="1595437"/>
            <a:ext cx="4419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TO-220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731044" y="1778533"/>
            <a:ext cx="7681912" cy="257175"/>
          </a:xfrm>
          <a:prstGeom prst="rect">
            <a:avLst/>
          </a:prstGeom>
          <a:ln/>
        </p:spPr>
      </p:sp>
      <p:sp>
        <p:nvSpPr>
          <p:cNvPr id="29" name="Text 26"/>
          <p:cNvSpPr/>
          <p:nvPr/>
        </p:nvSpPr>
        <p:spPr>
          <a:xfrm>
            <a:off x="731490" y="1855217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610" dirty="0"/>
          </a:p>
        </p:txBody>
      </p:sp>
      <p:sp>
        <p:nvSpPr>
          <p:cNvPr id="30" name="Text 27"/>
          <p:cNvSpPr/>
          <p:nvPr/>
        </p:nvSpPr>
        <p:spPr>
          <a:xfrm>
            <a:off x="1188690" y="1840929"/>
            <a:ext cx="153840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Capacitor — Charge Pump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4181326" y="1840929"/>
            <a:ext cx="16252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1µF / 16V Electrolytic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6335985" y="1840929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4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6976021" y="1850454"/>
            <a:ext cx="4419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31044" y="2033550"/>
            <a:ext cx="7681912" cy="257175"/>
          </a:xfrm>
          <a:prstGeom prst="rect">
            <a:avLst/>
          </a:prstGeom>
          <a:ln/>
        </p:spPr>
      </p:sp>
      <p:sp>
        <p:nvSpPr>
          <p:cNvPr id="35" name="Text 32"/>
          <p:cNvSpPr/>
          <p:nvPr/>
        </p:nvSpPr>
        <p:spPr>
          <a:xfrm>
            <a:off x="731490" y="2110234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610" dirty="0"/>
          </a:p>
        </p:txBody>
      </p:sp>
      <p:sp>
        <p:nvSpPr>
          <p:cNvPr id="36" name="Text 33"/>
          <p:cNvSpPr/>
          <p:nvPr/>
        </p:nvSpPr>
        <p:spPr>
          <a:xfrm>
            <a:off x="1188690" y="2095946"/>
            <a:ext cx="150174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Capacitor — Supply Filter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4181326" y="2095946"/>
            <a:ext cx="912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10µF / 100nF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6335985" y="2095946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6976021" y="2105471"/>
            <a:ext cx="89093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Radial / 0805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31044" y="2288567"/>
            <a:ext cx="7681912" cy="257175"/>
          </a:xfrm>
          <a:prstGeom prst="rect">
            <a:avLst/>
          </a:prstGeom>
          <a:ln/>
        </p:spPr>
      </p:sp>
      <p:sp>
        <p:nvSpPr>
          <p:cNvPr id="41" name="Text 38"/>
          <p:cNvSpPr/>
          <p:nvPr/>
        </p:nvSpPr>
        <p:spPr>
          <a:xfrm>
            <a:off x="731490" y="2365251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610" dirty="0"/>
          </a:p>
        </p:txBody>
      </p:sp>
      <p:sp>
        <p:nvSpPr>
          <p:cNvPr id="42" name="Text 39"/>
          <p:cNvSpPr/>
          <p:nvPr/>
        </p:nvSpPr>
        <p:spPr>
          <a:xfrm>
            <a:off x="1188690" y="2350963"/>
            <a:ext cx="140055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RS232 Serial Connector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4181326" y="2350963"/>
            <a:ext cx="148268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DB9 Female PCB-mount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6335985" y="2350963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976021" y="2360488"/>
            <a:ext cx="2495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THT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731044" y="2543584"/>
            <a:ext cx="7681912" cy="257175"/>
          </a:xfrm>
          <a:prstGeom prst="rect">
            <a:avLst/>
          </a:prstGeom>
          <a:ln/>
        </p:spPr>
      </p:sp>
      <p:sp>
        <p:nvSpPr>
          <p:cNvPr id="47" name="Text 44"/>
          <p:cNvSpPr/>
          <p:nvPr/>
        </p:nvSpPr>
        <p:spPr>
          <a:xfrm>
            <a:off x="731490" y="2620268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610" dirty="0"/>
          </a:p>
        </p:txBody>
      </p:sp>
      <p:sp>
        <p:nvSpPr>
          <p:cNvPr id="48" name="Text 45"/>
          <p:cNvSpPr/>
          <p:nvPr/>
        </p:nvSpPr>
        <p:spPr>
          <a:xfrm>
            <a:off x="1188690" y="2605980"/>
            <a:ext cx="125186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TTL Interface Header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4181326" y="2605980"/>
            <a:ext cx="141148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3-Pin Male · 2.54mm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6335985" y="2605980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6976021" y="2615505"/>
            <a:ext cx="2495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THT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731044" y="2798601"/>
            <a:ext cx="7681912" cy="257175"/>
          </a:xfrm>
          <a:prstGeom prst="rect">
            <a:avLst/>
          </a:prstGeom>
          <a:ln/>
        </p:spPr>
      </p:sp>
      <p:sp>
        <p:nvSpPr>
          <p:cNvPr id="53" name="Text 50"/>
          <p:cNvSpPr/>
          <p:nvPr/>
        </p:nvSpPr>
        <p:spPr>
          <a:xfrm>
            <a:off x="731490" y="2875285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610" dirty="0"/>
          </a:p>
        </p:txBody>
      </p:sp>
      <p:sp>
        <p:nvSpPr>
          <p:cNvPr id="54" name="Text 51"/>
          <p:cNvSpPr/>
          <p:nvPr/>
        </p:nvSpPr>
        <p:spPr>
          <a:xfrm>
            <a:off x="1188690" y="2860997"/>
            <a:ext cx="13800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Power Input Connector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4181326" y="2860997"/>
            <a:ext cx="176787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2-Pin Screw Terminal 5mm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6335985" y="2860997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6976021" y="2870522"/>
            <a:ext cx="2495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THT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731044" y="3053618"/>
            <a:ext cx="7681912" cy="257175"/>
          </a:xfrm>
          <a:prstGeom prst="rect">
            <a:avLst/>
          </a:prstGeom>
          <a:ln/>
        </p:spPr>
      </p:sp>
      <p:sp>
        <p:nvSpPr>
          <p:cNvPr id="59" name="Text 56"/>
          <p:cNvSpPr/>
          <p:nvPr/>
        </p:nvSpPr>
        <p:spPr>
          <a:xfrm>
            <a:off x="731490" y="3130302"/>
            <a:ext cx="17836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610" dirty="0"/>
          </a:p>
        </p:txBody>
      </p:sp>
      <p:sp>
        <p:nvSpPr>
          <p:cNvPr id="60" name="Text 57"/>
          <p:cNvSpPr/>
          <p:nvPr/>
        </p:nvSpPr>
        <p:spPr>
          <a:xfrm>
            <a:off x="1188690" y="3116014"/>
            <a:ext cx="125409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Printed Circuit Board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4181326" y="3116014"/>
            <a:ext cx="105510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 · KiCad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6335985" y="3116014"/>
            <a:ext cx="12844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976021" y="3125539"/>
            <a:ext cx="127576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8599A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2-layer FR4 · 1.6mm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731490" y="3417317"/>
            <a:ext cx="48492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kern="0" spc="108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NOTES:</a:t>
            </a:r>
            <a:endParaRPr lang="en-US" sz="540" dirty="0"/>
          </a:p>
        </p:txBody>
      </p:sp>
      <p:sp>
        <p:nvSpPr>
          <p:cNvPr id="65" name="Text 62"/>
          <p:cNvSpPr/>
          <p:nvPr/>
        </p:nvSpPr>
        <p:spPr>
          <a:xfrm>
            <a:off x="1280071" y="3422079"/>
            <a:ext cx="8662020" cy="224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610" dirty="0">
                <a:solidFill>
                  <a:srgbClr val="7B8F9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All capacitors rated minimum 16V. LM7805 heatsink recommended for Vin above 9V. Through-hole components only — suitable for hand soldering and</a:t>
            </a:r>
            <a:endParaRPr lang="en-US" sz="610" dirty="0"/>
          </a:p>
          <a:p>
            <a:pPr marL="0" indent="0" algn="l">
              <a:lnSpc>
                <a:spcPts val="979"/>
              </a:lnSpc>
              <a:buNone/>
            </a:pPr>
            <a:r>
              <a:rPr lang="en-US" sz="610" dirty="0">
                <a:solidFill>
                  <a:srgbClr val="7B8F9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prototyping.</a:t>
            </a:r>
            <a:endParaRPr lang="en-US" sz="610" dirty="0"/>
          </a:p>
        </p:txBody>
      </p:sp>
      <p:sp>
        <p:nvSpPr>
          <p:cNvPr id="66" name="Text 63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ETL-232-08</a:t>
            </a:r>
            <a:endParaRPr lang="en-US" sz="500" dirty="0"/>
          </a:p>
        </p:txBody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44" y="1130647"/>
            <a:ext cx="7681912" cy="138113"/>
          </a:xfrm>
          <a:prstGeom prst="rect">
            <a:avLst/>
          </a:prstGeom>
        </p:spPr>
      </p:pic>
      <p:pic>
        <p:nvPicPr>
          <p:cNvPr id="6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44" y="1268499"/>
            <a:ext cx="7681912" cy="257175"/>
          </a:xfrm>
          <a:prstGeom prst="rect">
            <a:avLst/>
          </a:prstGeom>
        </p:spPr>
      </p:pic>
      <p:pic>
        <p:nvPicPr>
          <p:cNvPr id="6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044" y="1523516"/>
            <a:ext cx="7681912" cy="257175"/>
          </a:xfrm>
          <a:prstGeom prst="rect">
            <a:avLst/>
          </a:prstGeom>
        </p:spPr>
      </p:pic>
      <p:pic>
        <p:nvPicPr>
          <p:cNvPr id="7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044" y="1778533"/>
            <a:ext cx="7681912" cy="257175"/>
          </a:xfrm>
          <a:prstGeom prst="rect">
            <a:avLst/>
          </a:prstGeom>
        </p:spPr>
      </p:pic>
      <p:pic>
        <p:nvPicPr>
          <p:cNvPr id="7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044" y="2033550"/>
            <a:ext cx="7681912" cy="257175"/>
          </a:xfrm>
          <a:prstGeom prst="rect">
            <a:avLst/>
          </a:prstGeom>
        </p:spPr>
      </p:pic>
      <p:pic>
        <p:nvPicPr>
          <p:cNvPr id="7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044" y="2288567"/>
            <a:ext cx="7681912" cy="257175"/>
          </a:xfrm>
          <a:prstGeom prst="rect">
            <a:avLst/>
          </a:prstGeom>
        </p:spPr>
      </p:pic>
      <p:pic>
        <p:nvPicPr>
          <p:cNvPr id="7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044" y="2543584"/>
            <a:ext cx="7681912" cy="257175"/>
          </a:xfrm>
          <a:prstGeom prst="rect">
            <a:avLst/>
          </a:prstGeom>
        </p:spPr>
      </p:pic>
      <p:pic>
        <p:nvPicPr>
          <p:cNvPr id="7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1044" y="2798601"/>
            <a:ext cx="7681912" cy="257175"/>
          </a:xfrm>
          <a:prstGeom prst="rect">
            <a:avLst/>
          </a:prstGeom>
        </p:spPr>
      </p:pic>
      <p:pic>
        <p:nvPicPr>
          <p:cNvPr id="7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1044" y="3053618"/>
            <a:ext cx="7681912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3337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657225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8321576" y="4547629"/>
            <a:ext cx="319088" cy="4763"/>
          </a:xfrm>
          <a:prstGeom prst="rect">
            <a:avLst/>
          </a:prstGeom>
          <a:solidFill>
            <a:srgbClr val="7DD3FC">
              <a:alpha val="4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8477250" y="4449663"/>
            <a:ext cx="9525" cy="204787"/>
          </a:xfrm>
          <a:prstGeom prst="rect">
            <a:avLst/>
          </a:prstGeom>
          <a:solidFill>
            <a:srgbClr val="7DD3FC">
              <a:alpha val="4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280597" y="287610"/>
            <a:ext cx="1825816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 / 10 — PSPICE RESULTS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731490" y="641003"/>
            <a:ext cx="345508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418"/>
              </a:spcAft>
              <a:buNone/>
            </a:pPr>
            <a:r>
              <a:rPr lang="en-US" sz="202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&amp; RESULTS</a:t>
            </a:r>
            <a:endParaRPr lang="en-US" sz="2020" dirty="0"/>
          </a:p>
        </p:txBody>
      </p:sp>
      <p:sp>
        <p:nvSpPr>
          <p:cNvPr id="11" name="Text 8"/>
          <p:cNvSpPr/>
          <p:nvPr/>
        </p:nvSpPr>
        <p:spPr>
          <a:xfrm>
            <a:off x="731490" y="1186011"/>
            <a:ext cx="1599255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MEASURED OUTPUT VALUES</a:t>
            </a:r>
            <a:endParaRPr lang="en-US" sz="470" dirty="0"/>
          </a:p>
        </p:txBody>
      </p:sp>
      <p:sp>
        <p:nvSpPr>
          <p:cNvPr id="12" name="Shape 9"/>
          <p:cNvSpPr/>
          <p:nvPr/>
        </p:nvSpPr>
        <p:spPr>
          <a:xfrm>
            <a:off x="731007" y="1398277"/>
            <a:ext cx="3109913" cy="733425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731490" y="1327472"/>
            <a:ext cx="1464112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6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5.0V</a:t>
            </a:r>
            <a:endParaRPr lang="en-US" sz="3960" dirty="0"/>
          </a:p>
        </p:txBody>
      </p:sp>
      <p:sp>
        <p:nvSpPr>
          <p:cNvPr id="14" name="Text 11"/>
          <p:cNvSpPr/>
          <p:nvPr/>
        </p:nvSpPr>
        <p:spPr>
          <a:xfrm>
            <a:off x="731490" y="1932236"/>
            <a:ext cx="1412163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500" kern="0" spc="108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REGULATED VCC OUTPUT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1950913" y="1747168"/>
            <a:ext cx="1141296" cy="20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7B8F9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LM7805 output under</a:t>
            </a:r>
            <a:endParaRPr lang="en-US" sz="580" dirty="0"/>
          </a:p>
          <a:p>
            <a:pPr marL="0" indent="0" algn="l">
              <a:lnSpc>
                <a:spcPts val="864"/>
              </a:lnSpc>
              <a:buNone/>
            </a:pPr>
            <a:r>
              <a:rPr lang="en-US" sz="580" dirty="0">
                <a:solidFill>
                  <a:srgbClr val="7B8F9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rated load — stable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731490" y="2237705"/>
            <a:ext cx="102975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±10V</a:t>
            </a:r>
            <a:endParaRPr lang="en-US" sz="2520" dirty="0"/>
          </a:p>
        </p:txBody>
      </p:sp>
      <p:sp>
        <p:nvSpPr>
          <p:cNvPr id="17" name="Text 14"/>
          <p:cNvSpPr/>
          <p:nvPr/>
        </p:nvSpPr>
        <p:spPr>
          <a:xfrm>
            <a:off x="731490" y="2630686"/>
            <a:ext cx="98844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470" kern="0" spc="72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 RAIL SWING</a:t>
            </a:r>
            <a:endParaRPr lang="en-US" sz="470" dirty="0"/>
          </a:p>
        </p:txBody>
      </p:sp>
      <p:sp>
        <p:nvSpPr>
          <p:cNvPr id="18" name="Text 15"/>
          <p:cNvSpPr/>
          <p:nvPr/>
        </p:nvSpPr>
        <p:spPr>
          <a:xfrm>
            <a:off x="731490" y="2750641"/>
            <a:ext cx="119837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580" dirty="0">
                <a:solidFill>
                  <a:srgbClr val="71859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Charge pump verified</a:t>
            </a:r>
            <a:endParaRPr lang="en-US" sz="580" dirty="0"/>
          </a:p>
        </p:txBody>
      </p:sp>
      <p:sp>
        <p:nvSpPr>
          <p:cNvPr id="19" name="Text 16"/>
          <p:cNvSpPr/>
          <p:nvPr/>
        </p:nvSpPr>
        <p:spPr>
          <a:xfrm>
            <a:off x="1883643" y="2237705"/>
            <a:ext cx="147107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2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120k</a:t>
            </a:r>
            <a:r>
              <a:rPr lang="en-US" sz="158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bps</a:t>
            </a:r>
            <a:endParaRPr lang="en-US" sz="2520" dirty="0"/>
          </a:p>
        </p:txBody>
      </p:sp>
      <p:sp>
        <p:nvSpPr>
          <p:cNvPr id="20" name="Text 17"/>
          <p:cNvSpPr/>
          <p:nvPr/>
        </p:nvSpPr>
        <p:spPr>
          <a:xfrm>
            <a:off x="1883643" y="2630686"/>
            <a:ext cx="81383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470" kern="0" spc="72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MAX DATA RATE</a:t>
            </a:r>
            <a:endParaRPr lang="en-US" sz="470" dirty="0"/>
          </a:p>
        </p:txBody>
      </p:sp>
      <p:sp>
        <p:nvSpPr>
          <p:cNvPr id="21" name="Text 18"/>
          <p:cNvSpPr/>
          <p:nvPr/>
        </p:nvSpPr>
        <p:spPr>
          <a:xfrm>
            <a:off x="1883643" y="2750641"/>
            <a:ext cx="119837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580" dirty="0">
                <a:solidFill>
                  <a:srgbClr val="718592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Per MAX232 datasheet</a:t>
            </a:r>
            <a:endParaRPr lang="en-US" sz="580" dirty="0"/>
          </a:p>
        </p:txBody>
      </p:sp>
      <p:sp>
        <p:nvSpPr>
          <p:cNvPr id="22" name="Shape 19"/>
          <p:cNvSpPr/>
          <p:nvPr/>
        </p:nvSpPr>
        <p:spPr>
          <a:xfrm>
            <a:off x="731007" y="3010756"/>
            <a:ext cx="3109913" cy="614363"/>
          </a:xfrm>
          <a:prstGeom prst="rect">
            <a:avLst/>
          </a:prstGeom>
          <a:solidFill>
            <a:srgbClr val="000000">
              <a:alpha val="30000"/>
            </a:srgbClr>
          </a:solidFill>
          <a:ln w="4763">
            <a:solidFill>
              <a:srgbClr val="7DD3FC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939" y="3096444"/>
            <a:ext cx="151180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86"/>
              </a:spcAft>
              <a:buNone/>
            </a:pPr>
            <a:r>
              <a:rPr lang="en-US" sz="430" kern="0" spc="108" dirty="0">
                <a:solidFill>
                  <a:srgbClr val="3C6A83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SIGNAL TRACE — SIMULATED</a:t>
            </a:r>
            <a:endParaRPr lang="en-US" sz="430" dirty="0"/>
          </a:p>
        </p:txBody>
      </p:sp>
      <p:sp>
        <p:nvSpPr>
          <p:cNvPr id="24" name="Text 21"/>
          <p:cNvSpPr/>
          <p:nvPr/>
        </p:nvSpPr>
        <p:spPr>
          <a:xfrm>
            <a:off x="845939" y="3260080"/>
            <a:ext cx="335079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4E87A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TTL IN</a:t>
            </a:r>
            <a:endParaRPr lang="en-US" sz="470" dirty="0"/>
          </a:p>
        </p:txBody>
      </p:sp>
      <p:sp>
        <p:nvSpPr>
          <p:cNvPr id="25" name="Shape 22"/>
          <p:cNvSpPr/>
          <p:nvPr/>
        </p:nvSpPr>
        <p:spPr>
          <a:xfrm>
            <a:off x="1283717" y="3235598"/>
            <a:ext cx="9525" cy="128588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285056" y="3235263"/>
            <a:ext cx="500063" cy="4763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784226" y="3235598"/>
            <a:ext cx="9525" cy="128588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1785565" y="3359758"/>
            <a:ext cx="500063" cy="4763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284809" y="3235598"/>
            <a:ext cx="9525" cy="128588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286149" y="3235263"/>
            <a:ext cx="500063" cy="4763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785393" y="3235598"/>
            <a:ext cx="9525" cy="128588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786732" y="3359758"/>
            <a:ext cx="500063" cy="4763"/>
          </a:xfrm>
          <a:prstGeom prst="rect">
            <a:avLst/>
          </a:prstGeom>
          <a:solidFill>
            <a:srgbClr val="7DD3FC">
              <a:alpha val="6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3360241" y="3260080"/>
            <a:ext cx="381417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6F808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0V / 5V</a:t>
            </a:r>
            <a:endParaRPr lang="en-US" sz="470" dirty="0"/>
          </a:p>
        </p:txBody>
      </p:sp>
      <p:sp>
        <p:nvSpPr>
          <p:cNvPr id="34" name="Text 31"/>
          <p:cNvSpPr/>
          <p:nvPr/>
        </p:nvSpPr>
        <p:spPr>
          <a:xfrm>
            <a:off x="845939" y="3440088"/>
            <a:ext cx="288838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4E87A4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RS232</a:t>
            </a:r>
            <a:endParaRPr lang="en-US" sz="470" dirty="0"/>
          </a:p>
        </p:txBody>
      </p:sp>
      <p:sp>
        <p:nvSpPr>
          <p:cNvPr id="35" name="Shape 32"/>
          <p:cNvSpPr/>
          <p:nvPr/>
        </p:nvSpPr>
        <p:spPr>
          <a:xfrm>
            <a:off x="1283717" y="3415605"/>
            <a:ext cx="9525" cy="128588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285056" y="3539765"/>
            <a:ext cx="500063" cy="4763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784226" y="3415605"/>
            <a:ext cx="9525" cy="128588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1785565" y="3415271"/>
            <a:ext cx="500063" cy="4763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2284809" y="3415605"/>
            <a:ext cx="9525" cy="128588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2286149" y="3539765"/>
            <a:ext cx="500063" cy="4763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2785393" y="3415605"/>
            <a:ext cx="9525" cy="128588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2786732" y="3415271"/>
            <a:ext cx="500063" cy="4763"/>
          </a:xfrm>
          <a:prstGeom prst="rect">
            <a:avLst/>
          </a:prstGeom>
          <a:solidFill>
            <a:srgbClr val="FFC864">
              <a:alpha val="5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3360241" y="3440088"/>
            <a:ext cx="242501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dirty="0">
                <a:solidFill>
                  <a:srgbClr val="6F808B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±10V</a:t>
            </a:r>
            <a:endParaRPr lang="en-US" sz="470" dirty="0"/>
          </a:p>
        </p:txBody>
      </p:sp>
      <p:sp>
        <p:nvSpPr>
          <p:cNvPr id="44" name="Shape 41"/>
          <p:cNvSpPr/>
          <p:nvPr/>
        </p:nvSpPr>
        <p:spPr>
          <a:xfrm>
            <a:off x="4160007" y="1180728"/>
            <a:ext cx="4252912" cy="3500438"/>
          </a:xfrm>
          <a:prstGeom prst="rect">
            <a:avLst/>
          </a:prstGeom>
          <a:ln/>
        </p:spPr>
      </p:sp>
      <p:sp>
        <p:nvSpPr>
          <p:cNvPr id="45" name="Text 42"/>
          <p:cNvSpPr/>
          <p:nvPr/>
        </p:nvSpPr>
        <p:spPr>
          <a:xfrm>
            <a:off x="4485159" y="1186011"/>
            <a:ext cx="1388946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44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SIMULATION FINDINGS</a:t>
            </a:r>
            <a:endParaRPr lang="en-US" sz="470" dirty="0"/>
          </a:p>
        </p:txBody>
      </p:sp>
      <p:sp>
        <p:nvSpPr>
          <p:cNvPr id="46" name="Text 43"/>
          <p:cNvSpPr/>
          <p:nvPr/>
        </p:nvSpPr>
        <p:spPr>
          <a:xfrm>
            <a:off x="4485159" y="1418034"/>
            <a:ext cx="5073804" cy="45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LM7805 delivered a stable 5.0V output across all tested load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conditions. Ripple remained well within the 50mV limit specified in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datasheet.</a:t>
            </a:r>
            <a:endParaRPr lang="en-US" sz="760" dirty="0"/>
          </a:p>
        </p:txBody>
      </p:sp>
      <p:sp>
        <p:nvSpPr>
          <p:cNvPr id="47" name="Text 44"/>
          <p:cNvSpPr/>
          <p:nvPr/>
        </p:nvSpPr>
        <p:spPr>
          <a:xfrm>
            <a:off x="4485159" y="2050479"/>
            <a:ext cx="5148679" cy="45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MAX232 charge pump operation confirmed: the doubler stage produced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+10V and the inverter stage -10V — sufficient margin above the RS232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DC2C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minimum of ±3V.</a:t>
            </a:r>
            <a:endParaRPr lang="en-US" sz="760" dirty="0"/>
          </a:p>
        </p:txBody>
      </p:sp>
      <p:sp>
        <p:nvSpPr>
          <p:cNvPr id="48" name="Text 45"/>
          <p:cNvSpPr/>
          <p:nvPr/>
        </p:nvSpPr>
        <p:spPr>
          <a:xfrm>
            <a:off x="4485159" y="2682925"/>
            <a:ext cx="4998928" cy="459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Logic inversion was verified: TTL HIGH (5V) at T1IN correctly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produced RS232 SPACE (-10V) at T1OUT. The receiver path showed the</a:t>
            </a:r>
            <a:endParaRPr lang="en-US" sz="760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76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inverse behaviour on R1OUT.</a:t>
            </a:r>
            <a:endParaRPr lang="en-US" sz="760" dirty="0"/>
          </a:p>
        </p:txBody>
      </p:sp>
      <p:sp>
        <p:nvSpPr>
          <p:cNvPr id="49" name="Text 46"/>
          <p:cNvSpPr/>
          <p:nvPr/>
        </p:nvSpPr>
        <p:spPr>
          <a:xfrm>
            <a:off x="4485159" y="4456212"/>
            <a:ext cx="484995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1"/>
              </a:lnSpc>
              <a:buNone/>
            </a:pPr>
            <a:r>
              <a:rPr lang="en-US" sz="580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Simulation tool: OrCAD PSpice · All component models sourced from manufacturer SPICE</a:t>
            </a:r>
            <a:endParaRPr lang="en-US" sz="580" dirty="0"/>
          </a:p>
          <a:p>
            <a:pPr marL="0" indent="0" algn="l">
              <a:lnSpc>
                <a:spcPts val="921"/>
              </a:lnSpc>
              <a:buNone/>
            </a:pPr>
            <a:r>
              <a:rPr lang="en-US" sz="580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libraries.</a:t>
            </a:r>
            <a:endParaRPr lang="en-US" sz="580" dirty="0"/>
          </a:p>
        </p:txBody>
      </p:sp>
      <p:sp>
        <p:nvSpPr>
          <p:cNvPr id="50" name="Text 47"/>
          <p:cNvSpPr/>
          <p:nvPr/>
        </p:nvSpPr>
        <p:spPr>
          <a:xfrm>
            <a:off x="7927925" y="4795093"/>
            <a:ext cx="984290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72" dirty="0">
                <a:solidFill>
                  <a:srgbClr val="3E6F8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DWG: ETL-232-09</a:t>
            </a:r>
            <a:endParaRPr lang="en-US" sz="50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07" y="1398277"/>
            <a:ext cx="3109913" cy="733425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07" y="1180728"/>
            <a:ext cx="4252912" cy="35004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3844" y="154781"/>
            <a:ext cx="8596313" cy="4833938"/>
          </a:xfrm>
          <a:prstGeom prst="rect">
            <a:avLst/>
          </a:prstGeom>
          <a:ln w="9525">
            <a:solidFill>
              <a:srgbClr val="7DD3F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83381" y="216694"/>
            <a:ext cx="8377237" cy="4710112"/>
          </a:xfrm>
          <a:prstGeom prst="rect">
            <a:avLst/>
          </a:prstGeom>
          <a:ln w="4763">
            <a:solidFill>
              <a:srgbClr val="7DD3FC">
                <a:alpha val="35000"/>
              </a:srgbClr>
            </a:solidFill>
            <a:prstDash val="dash"/>
          </a:ln>
        </p:spPr>
      </p:sp>
      <p:sp>
        <p:nvSpPr>
          <p:cNvPr id="5" name="Shape 2"/>
          <p:cNvSpPr/>
          <p:nvPr/>
        </p:nvSpPr>
        <p:spPr>
          <a:xfrm>
            <a:off x="503337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6" name="Shape 3"/>
          <p:cNvSpPr/>
          <p:nvPr/>
        </p:nvSpPr>
        <p:spPr>
          <a:xfrm>
            <a:off x="657225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7" name="Shape 4"/>
          <p:cNvSpPr/>
          <p:nvPr/>
        </p:nvSpPr>
        <p:spPr>
          <a:xfrm>
            <a:off x="8321576" y="591108"/>
            <a:ext cx="319088" cy="4763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8" name="Shape 5"/>
          <p:cNvSpPr/>
          <p:nvPr/>
        </p:nvSpPr>
        <p:spPr>
          <a:xfrm>
            <a:off x="8477250" y="489049"/>
            <a:ext cx="9525" cy="204787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9" name="Shape 6"/>
          <p:cNvSpPr/>
          <p:nvPr/>
        </p:nvSpPr>
        <p:spPr>
          <a:xfrm>
            <a:off x="503337" y="4547629"/>
            <a:ext cx="319088" cy="4763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57225" y="4449663"/>
            <a:ext cx="9525" cy="204787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321576" y="4547629"/>
            <a:ext cx="319088" cy="4763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477250" y="4449663"/>
            <a:ext cx="9525" cy="204787"/>
          </a:xfrm>
          <a:prstGeom prst="rect">
            <a:avLst/>
          </a:prstGeom>
          <a:solidFill>
            <a:srgbClr val="7DD3FC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2890" y="287610"/>
            <a:ext cx="1752101" cy="80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" kern="0" spc="144" dirty="0">
                <a:solidFill>
                  <a:srgbClr val="44799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10 — FINAL SUMMARY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731490" y="701948"/>
            <a:ext cx="500957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620"/>
              </a:spcAft>
              <a:buNone/>
            </a:pPr>
            <a:r>
              <a:rPr lang="en-US" sz="2300" b="1" kern="0" spc="-72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APPLICATIONS &amp; CONCLUSION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31490" y="1317947"/>
            <a:ext cx="969682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470" kern="0" spc="18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APPLICATIONS</a:t>
            </a:r>
            <a:endParaRPr lang="en-US" sz="470" dirty="0"/>
          </a:p>
        </p:txBody>
      </p:sp>
      <p:sp>
        <p:nvSpPr>
          <p:cNvPr id="16" name="Text 13"/>
          <p:cNvSpPr/>
          <p:nvPr/>
        </p:nvSpPr>
        <p:spPr>
          <a:xfrm>
            <a:off x="731490" y="1612404"/>
            <a:ext cx="36511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Interfacing Arduino / STM32 with PC serial ports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731490" y="1905074"/>
            <a:ext cx="372604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B8CC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Industrial automation — PLC and HMI communication</a:t>
            </a: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731490" y="2197745"/>
            <a:ext cx="34265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B8CCD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GPS receivers, barcode readers, legacy modems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731490" y="2490415"/>
            <a:ext cx="36511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Medical device data logging and serial telemetry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731490" y="2783086"/>
            <a:ext cx="38009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Embedded firmware debug consoles (UART over RS232)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4569656" y="1313817"/>
            <a:ext cx="4763" cy="3314700"/>
          </a:xfrm>
          <a:prstGeom prst="rect">
            <a:avLst/>
          </a:prstGeom>
          <a:solidFill>
            <a:srgbClr val="7DD3FC">
              <a:alpha val="2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31507" y="1317947"/>
            <a:ext cx="817610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70" kern="0" spc="18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CONCLUSION</a:t>
            </a:r>
            <a:endParaRPr lang="en-US" sz="470" dirty="0"/>
          </a:p>
        </p:txBody>
      </p:sp>
      <p:sp>
        <p:nvSpPr>
          <p:cNvPr id="23" name="Text 20"/>
          <p:cNvSpPr/>
          <p:nvPr/>
        </p:nvSpPr>
        <p:spPr>
          <a:xfrm>
            <a:off x="5031507" y="1554733"/>
            <a:ext cx="4422658" cy="4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6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internship-based project delivered a complete, verified RS232-to-TTL converter</a:t>
            </a:r>
            <a:endParaRPr lang="en-US" sz="790" dirty="0"/>
          </a:p>
          <a:p>
            <a:pPr marL="0" indent="0" algn="l">
              <a:lnSpc>
                <a:spcPts val="1426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 — from first-principles voltage analysis through PSpice</a:t>
            </a:r>
            <a:endParaRPr lang="en-US" sz="790" dirty="0"/>
          </a:p>
          <a:p>
            <a:pPr marL="0" indent="0" algn="l">
              <a:lnSpc>
                <a:spcPts val="1426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to a fabrication-ready KiCad PCB.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031507" y="2221706"/>
            <a:ext cx="4191260" cy="599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72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The MAX232-based design works reliably from a single 5V</a:t>
            </a:r>
            <a:endParaRPr lang="en-US" sz="72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72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supply with no external voltage rails. The KiCad workflow</a:t>
            </a:r>
            <a:endParaRPr lang="en-US" sz="72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72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produced a schematic, 2-layer PCB, and 3D render ready for</a:t>
            </a:r>
            <a:endParaRPr lang="en-US" sz="720" dirty="0"/>
          </a:p>
          <a:p>
            <a:pPr marL="0" indent="0" algn="l">
              <a:lnSpc>
                <a:spcPts val="1260"/>
              </a:lnSpc>
              <a:buNone/>
            </a:pPr>
            <a:r>
              <a:rPr lang="en-US" sz="720" dirty="0">
                <a:solidFill>
                  <a:srgbClr val="A3B8C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prototype fabrication.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5031358" y="4142408"/>
            <a:ext cx="3381375" cy="485775"/>
          </a:xfrm>
          <a:prstGeom prst="rect">
            <a:avLst/>
          </a:prstGeom>
          <a:ln w="4763">
            <a:solidFill>
              <a:srgbClr val="7DD3FC">
                <a:alpha val="4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36827" y="4147170"/>
            <a:ext cx="823913" cy="476250"/>
          </a:xfrm>
          <a:prstGeom prst="rect">
            <a:avLst/>
          </a:prstGeom>
          <a:ln/>
        </p:spPr>
      </p:sp>
      <p:sp>
        <p:nvSpPr>
          <p:cNvPr id="27" name="Text 24"/>
          <p:cNvSpPr/>
          <p:nvPr/>
        </p:nvSpPr>
        <p:spPr>
          <a:xfrm>
            <a:off x="5145956" y="4212654"/>
            <a:ext cx="42088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430" kern="0" spc="108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STATUS</a:t>
            </a:r>
            <a:endParaRPr lang="en-US" sz="430" dirty="0"/>
          </a:p>
        </p:txBody>
      </p:sp>
      <p:sp>
        <p:nvSpPr>
          <p:cNvPr id="28" name="Text 25"/>
          <p:cNvSpPr/>
          <p:nvPr/>
        </p:nvSpPr>
        <p:spPr>
          <a:xfrm>
            <a:off x="5145956" y="4320555"/>
            <a:ext cx="5702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DD3FC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COMPLETE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5862228" y="4147170"/>
            <a:ext cx="1423987" cy="476250"/>
          </a:xfrm>
          <a:prstGeom prst="rect">
            <a:avLst/>
          </a:prstGeom>
          <a:ln/>
        </p:spPr>
      </p:sp>
      <p:sp>
        <p:nvSpPr>
          <p:cNvPr id="30" name="Text 27"/>
          <p:cNvSpPr/>
          <p:nvPr/>
        </p:nvSpPr>
        <p:spPr>
          <a:xfrm>
            <a:off x="5970984" y="4212654"/>
            <a:ext cx="723870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430" kern="0" spc="108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INSTITUTION</a:t>
            </a:r>
            <a:endParaRPr lang="en-US" sz="430" dirty="0"/>
          </a:p>
        </p:txBody>
      </p:sp>
      <p:sp>
        <p:nvSpPr>
          <p:cNvPr id="31" name="Text 28"/>
          <p:cNvSpPr/>
          <p:nvPr/>
        </p:nvSpPr>
        <p:spPr>
          <a:xfrm>
            <a:off x="5970984" y="4320555"/>
            <a:ext cx="1596450" cy="2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SGGS-IET, Nanded · Dept.</a:t>
            </a:r>
            <a:endParaRPr lang="en-US" sz="650" dirty="0"/>
          </a:p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of E&amp;TC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7396832" y="4212654"/>
            <a:ext cx="481444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430" kern="0" spc="108" dirty="0">
                <a:solidFill>
                  <a:srgbClr val="4A829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STUDENT</a:t>
            </a:r>
            <a:endParaRPr lang="en-US" sz="430" dirty="0"/>
          </a:p>
        </p:txBody>
      </p:sp>
      <p:sp>
        <p:nvSpPr>
          <p:cNvPr id="33" name="Text 30"/>
          <p:cNvSpPr/>
          <p:nvPr/>
        </p:nvSpPr>
        <p:spPr>
          <a:xfrm>
            <a:off x="7396832" y="4320555"/>
            <a:ext cx="1147487" cy="2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V. S. Swami · Sem</a:t>
            </a:r>
            <a:endParaRPr lang="en-US" sz="650" dirty="0"/>
          </a:p>
          <a:p>
            <a:pPr marL="0" indent="0" algn="l">
              <a:lnSpc>
                <a:spcPts val="972"/>
              </a:lnSpc>
              <a:buNone/>
            </a:pPr>
            <a:r>
              <a:rPr lang="en-US" sz="65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7· 2026-27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6584156" y="4588818"/>
            <a:ext cx="2147887" cy="323850"/>
          </a:xfrm>
          <a:prstGeom prst="rect">
            <a:avLst/>
          </a:prstGeom>
          <a:ln w="4763">
            <a:solidFill>
              <a:srgbClr val="7DD3FC">
                <a:alpha val="6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8509" y="4593580"/>
            <a:ext cx="676275" cy="314325"/>
          </a:xfrm>
          <a:prstGeom prst="rect">
            <a:avLst/>
          </a:prstGeom>
          <a:ln/>
        </p:spPr>
      </p:sp>
      <p:sp>
        <p:nvSpPr>
          <p:cNvPr id="36" name="Text 33"/>
          <p:cNvSpPr/>
          <p:nvPr/>
        </p:nvSpPr>
        <p:spPr>
          <a:xfrm>
            <a:off x="6698084" y="4629745"/>
            <a:ext cx="51356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DRAWN BY</a:t>
            </a:r>
            <a:endParaRPr lang="en-US" sz="430" dirty="0"/>
          </a:p>
        </p:txBody>
      </p:sp>
      <p:sp>
        <p:nvSpPr>
          <p:cNvPr id="37" name="Text 34"/>
          <p:cNvSpPr/>
          <p:nvPr/>
        </p:nvSpPr>
        <p:spPr>
          <a:xfrm>
            <a:off x="6698084" y="4778350"/>
            <a:ext cx="64522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V. S. Swami</a:t>
            </a:r>
            <a:endParaRPr lang="en-US" sz="540" dirty="0"/>
          </a:p>
        </p:txBody>
      </p:sp>
      <p:sp>
        <p:nvSpPr>
          <p:cNvPr id="38" name="Shape 35"/>
          <p:cNvSpPr/>
          <p:nvPr/>
        </p:nvSpPr>
        <p:spPr>
          <a:xfrm>
            <a:off x="7263743" y="4593580"/>
            <a:ext cx="514350" cy="314325"/>
          </a:xfrm>
          <a:prstGeom prst="rect">
            <a:avLst/>
          </a:prstGeom>
          <a:ln/>
        </p:spPr>
      </p:sp>
      <p:sp>
        <p:nvSpPr>
          <p:cNvPr id="39" name="Text 36"/>
          <p:cNvSpPr/>
          <p:nvPr/>
        </p:nvSpPr>
        <p:spPr>
          <a:xfrm>
            <a:off x="7374582" y="4629745"/>
            <a:ext cx="285356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DATE</a:t>
            </a:r>
            <a:endParaRPr lang="en-US" sz="430" dirty="0"/>
          </a:p>
        </p:txBody>
      </p:sp>
      <p:sp>
        <p:nvSpPr>
          <p:cNvPr id="40" name="Text 37"/>
          <p:cNvSpPr/>
          <p:nvPr/>
        </p:nvSpPr>
        <p:spPr>
          <a:xfrm>
            <a:off x="7374582" y="4778350"/>
            <a:ext cx="43143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2025-26</a:t>
            </a:r>
            <a:endParaRPr lang="en-US" sz="540" dirty="0"/>
          </a:p>
        </p:txBody>
      </p:sp>
      <p:sp>
        <p:nvSpPr>
          <p:cNvPr id="41" name="Shape 38"/>
          <p:cNvSpPr/>
          <p:nvPr/>
        </p:nvSpPr>
        <p:spPr>
          <a:xfrm>
            <a:off x="7777274" y="4593580"/>
            <a:ext cx="442913" cy="314325"/>
          </a:xfrm>
          <a:prstGeom prst="rect">
            <a:avLst/>
          </a:prstGeom>
          <a:ln/>
        </p:spPr>
      </p:sp>
      <p:sp>
        <p:nvSpPr>
          <p:cNvPr id="42" name="Text 39"/>
          <p:cNvSpPr/>
          <p:nvPr/>
        </p:nvSpPr>
        <p:spPr>
          <a:xfrm>
            <a:off x="7886626" y="4629745"/>
            <a:ext cx="34243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SCALE</a:t>
            </a:r>
            <a:endParaRPr lang="en-US" sz="430" dirty="0"/>
          </a:p>
        </p:txBody>
      </p:sp>
      <p:sp>
        <p:nvSpPr>
          <p:cNvPr id="43" name="Text 40"/>
          <p:cNvSpPr/>
          <p:nvPr/>
        </p:nvSpPr>
        <p:spPr>
          <a:xfrm>
            <a:off x="7886626" y="4778350"/>
            <a:ext cx="21754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NTS</a:t>
            </a:r>
            <a:endParaRPr lang="en-US" sz="540" dirty="0"/>
          </a:p>
        </p:txBody>
      </p:sp>
      <p:sp>
        <p:nvSpPr>
          <p:cNvPr id="44" name="Text 41"/>
          <p:cNvSpPr/>
          <p:nvPr/>
        </p:nvSpPr>
        <p:spPr>
          <a:xfrm>
            <a:off x="8330208" y="4629745"/>
            <a:ext cx="342431" cy="71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30" kern="0" spc="86" dirty="0">
                <a:solidFill>
                  <a:srgbClr val="4F8BA9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SHEET</a:t>
            </a:r>
            <a:endParaRPr lang="en-US" sz="430" dirty="0"/>
          </a:p>
        </p:txBody>
      </p:sp>
      <p:sp>
        <p:nvSpPr>
          <p:cNvPr id="45" name="Text 42"/>
          <p:cNvSpPr/>
          <p:nvPr/>
        </p:nvSpPr>
        <p:spPr>
          <a:xfrm>
            <a:off x="8330208" y="4778350"/>
            <a:ext cx="43143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" dirty="0">
                <a:solidFill>
                  <a:srgbClr val="D6EBF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 / 10</a:t>
            </a:r>
            <a:endParaRPr lang="en-US" sz="540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341" y="1532000"/>
            <a:ext cx="3381375" cy="290513"/>
          </a:xfrm>
          <a:prstGeom prst="rect">
            <a:avLst/>
          </a:prstGeom>
        </p:spPr>
      </p:pic>
      <p:pic>
        <p:nvPicPr>
          <p:cNvPr id="4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341" y="1824670"/>
            <a:ext cx="3381375" cy="290513"/>
          </a:xfrm>
          <a:prstGeom prst="rect">
            <a:avLst/>
          </a:prstGeom>
        </p:spPr>
      </p:pic>
      <p:pic>
        <p:nvPicPr>
          <p:cNvPr id="4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341" y="2117341"/>
            <a:ext cx="3381375" cy="290513"/>
          </a:xfrm>
          <a:prstGeom prst="rect">
            <a:avLst/>
          </a:prstGeom>
        </p:spPr>
      </p:pic>
      <p:pic>
        <p:nvPicPr>
          <p:cNvPr id="4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341" y="2410011"/>
            <a:ext cx="3381375" cy="290513"/>
          </a:xfrm>
          <a:prstGeom prst="rect">
            <a:avLst/>
          </a:prstGeom>
        </p:spPr>
      </p:pic>
      <p:pic>
        <p:nvPicPr>
          <p:cNvPr id="5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6827" y="4147170"/>
            <a:ext cx="823913" cy="476250"/>
          </a:xfrm>
          <a:prstGeom prst="rect">
            <a:avLst/>
          </a:prstGeom>
        </p:spPr>
      </p:pic>
      <p:pic>
        <p:nvPicPr>
          <p:cNvPr id="5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62228" y="4147170"/>
            <a:ext cx="1423987" cy="476250"/>
          </a:xfrm>
          <a:prstGeom prst="rect">
            <a:avLst/>
          </a:prstGeom>
        </p:spPr>
      </p:pic>
      <p:pic>
        <p:nvPicPr>
          <p:cNvPr id="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8509" y="4593580"/>
            <a:ext cx="676275" cy="314325"/>
          </a:xfrm>
          <a:prstGeom prst="rect">
            <a:avLst/>
          </a:prstGeom>
        </p:spPr>
      </p:pic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88509" y="4594659"/>
            <a:ext cx="671513" cy="147637"/>
          </a:xfrm>
          <a:prstGeom prst="rect">
            <a:avLst/>
          </a:prstGeom>
        </p:spPr>
      </p:pic>
      <p:pic>
        <p:nvPicPr>
          <p:cNvPr id="5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3743" y="4593580"/>
            <a:ext cx="514350" cy="314325"/>
          </a:xfrm>
          <a:prstGeom prst="rect">
            <a:avLst/>
          </a:prstGeom>
        </p:spPr>
      </p:pic>
      <p:pic>
        <p:nvPicPr>
          <p:cNvPr id="5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63743" y="4594659"/>
            <a:ext cx="509587" cy="147637"/>
          </a:xfrm>
          <a:prstGeom prst="rect">
            <a:avLst/>
          </a:prstGeom>
        </p:spPr>
      </p:pic>
      <p:pic>
        <p:nvPicPr>
          <p:cNvPr id="56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7274" y="4593580"/>
            <a:ext cx="442913" cy="314325"/>
          </a:xfrm>
          <a:prstGeom prst="rect">
            <a:avLst/>
          </a:prstGeom>
        </p:spPr>
      </p:pic>
      <p:pic>
        <p:nvPicPr>
          <p:cNvPr id="5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777274" y="4594659"/>
            <a:ext cx="438150" cy="147637"/>
          </a:xfrm>
          <a:prstGeom prst="rect">
            <a:avLst/>
          </a:prstGeom>
        </p:spPr>
      </p:pic>
      <p:pic>
        <p:nvPicPr>
          <p:cNvPr id="58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19368" y="4594659"/>
            <a:ext cx="509587" cy="1476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1136</Words>
  <Application>Microsoft Office PowerPoint</Application>
  <PresentationFormat>On-screen Show (16:9)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DM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Mousumi Ganguly</cp:lastModifiedBy>
  <cp:revision>3</cp:revision>
  <dcterms:created xsi:type="dcterms:W3CDTF">2026-07-20T08:57:05Z</dcterms:created>
  <dcterms:modified xsi:type="dcterms:W3CDTF">2026-07-20T09:18:03Z</dcterms:modified>
</cp:coreProperties>
</file>